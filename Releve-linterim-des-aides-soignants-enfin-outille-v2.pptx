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  <p:sldId id="269" r:id="rId14"/>
    <p:sldId id="270" r:id="rId15"/>
    <p:sldId id="275" r:id="rId16"/>
    <p:sldId id="272" r:id="rId17"/>
    <p:sldId id="273" r:id="rId18"/>
    <p:sldId id="265" r:id="rId19"/>
    <p:sldId id="274" r:id="rId20"/>
  </p:sldIdLst>
  <p:sldSz cx="12192000" cy="6858000"/>
  <p:notesSz cx="6858000" cy="12192000"/>
  <p:embeddedFontLst>
    <p:embeddedFont>
      <p:font typeface="Inter" panose="02000503000000020004" pitchFamily="2" charset="0"/>
      <p:regular r:id="rId22"/>
    </p:embeddedFont>
    <p:embeddedFont>
      <p:font typeface="Inter Bold" panose="02000503000000020004" pitchFamily="2" charset="0"/>
      <p:regular r:id="rId23"/>
      <p:bold r:id="rId2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9BA6AE6-5AA3-B145-8661-8353490DF7B9}" v="1" dt="2026-09-24T13:53:11.46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251"/>
    <p:restoredTop sz="94624"/>
  </p:normalViewPr>
  <p:slideViewPr>
    <p:cSldViewPr snapToGrid="0">
      <p:cViewPr varScale="1">
        <p:scale>
          <a:sx n="122" d="100"/>
          <a:sy n="122" d="100"/>
        </p:scale>
        <p:origin x="440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oubacar Camara" userId="fb13d033-6681-4c72-88fe-f1cbfc1874c8" providerId="ADAL" clId="{DD824F33-39A9-5EEB-A276-66FD33737A8C}"/>
    <pc:docChg chg="custSel addSld delSld modSld sldOrd">
      <pc:chgData name="Boubacar Camara" userId="fb13d033-6681-4c72-88fe-f1cbfc1874c8" providerId="ADAL" clId="{DD824F33-39A9-5EEB-A276-66FD33737A8C}" dt="2026-09-24T13:54:50.546" v="6" actId="27636"/>
      <pc:docMkLst>
        <pc:docMk/>
      </pc:docMkLst>
      <pc:sldChg chg="ord">
        <pc:chgData name="Boubacar Camara" userId="fb13d033-6681-4c72-88fe-f1cbfc1874c8" providerId="ADAL" clId="{DD824F33-39A9-5EEB-A276-66FD33737A8C}" dt="2026-09-23T12:16:03.958" v="2" actId="20578"/>
        <pc:sldMkLst>
          <pc:docMk/>
          <pc:sldMk cId="0" sldId="265"/>
        </pc:sldMkLst>
      </pc:sldChg>
      <pc:sldChg chg="del">
        <pc:chgData name="Boubacar Camara" userId="fb13d033-6681-4c72-88fe-f1cbfc1874c8" providerId="ADAL" clId="{DD824F33-39A9-5EEB-A276-66FD33737A8C}" dt="2026-09-24T13:54:50.434" v="5"/>
        <pc:sldMkLst>
          <pc:docMk/>
          <pc:sldMk cId="0" sldId="271"/>
        </pc:sldMkLst>
      </pc:sldChg>
      <pc:sldChg chg="ord">
        <pc:chgData name="Boubacar Camara" userId="fb13d033-6681-4c72-88fe-f1cbfc1874c8" providerId="ADAL" clId="{DD824F33-39A9-5EEB-A276-66FD33737A8C}" dt="2026-09-23T12:16:09.625" v="3" actId="20578"/>
        <pc:sldMkLst>
          <pc:docMk/>
          <pc:sldMk cId="0" sldId="273"/>
        </pc:sldMkLst>
      </pc:sldChg>
      <pc:sldChg chg="modSp add mod">
        <pc:chgData name="Boubacar Camara" userId="fb13d033-6681-4c72-88fe-f1cbfc1874c8" providerId="ADAL" clId="{DD824F33-39A9-5EEB-A276-66FD33737A8C}" dt="2026-09-24T13:54:50.546" v="6" actId="27636"/>
        <pc:sldMkLst>
          <pc:docMk/>
          <pc:sldMk cId="1424247062" sldId="275"/>
        </pc:sldMkLst>
        <pc:spChg chg="mod">
          <ac:chgData name="Boubacar Camara" userId="fb13d033-6681-4c72-88fe-f1cbfc1874c8" providerId="ADAL" clId="{DD824F33-39A9-5EEB-A276-66FD33737A8C}" dt="2026-09-24T13:54:50.546" v="6" actId="27636"/>
          <ac:spMkLst>
            <pc:docMk/>
            <pc:sldMk cId="1424247062" sldId="275"/>
            <ac:spMk id="4" creationId="{00000000-0000-0000-0000-000000000000}"/>
          </ac:spMkLst>
        </pc:spChg>
      </pc:sldChg>
    </pc:docChg>
  </pc:docChgLst>
  <pc:docChgLst>
    <pc:chgData name="Dirimo Iriarte" userId="S::dirimo.iriarte@epitech.eu::e3dfffdd-3d62-4b7d-982a-7042f32fe1ec" providerId="AD" clId="Web-{67A95975-D096-E26A-5466-F364B0E8FF9C}"/>
    <pc:docChg chg="modSld">
      <pc:chgData name="Dirimo Iriarte" userId="S::dirimo.iriarte@epitech.eu::e3dfffdd-3d62-4b7d-982a-7042f32fe1ec" providerId="AD" clId="Web-{67A95975-D096-E26A-5466-F364B0E8FF9C}" dt="2026-09-23T08:19:36.477" v="1" actId="1076"/>
      <pc:docMkLst>
        <pc:docMk/>
      </pc:docMkLst>
      <pc:sldChg chg="modSp">
        <pc:chgData name="Dirimo Iriarte" userId="S::dirimo.iriarte@epitech.eu::e3dfffdd-3d62-4b7d-982a-7042f32fe1ec" providerId="AD" clId="Web-{67A95975-D096-E26A-5466-F364B0E8FF9C}" dt="2026-09-23T08:19:36.477" v="1" actId="1076"/>
        <pc:sldMkLst>
          <pc:docMk/>
          <pc:sldMk cId="0" sldId="263"/>
        </pc:sldMkLst>
        <pc:picChg chg="mod">
          <ac:chgData name="Dirimo Iriarte" userId="S::dirimo.iriarte@epitech.eu::e3dfffdd-3d62-4b7d-982a-7042f32fe1ec" providerId="AD" clId="Web-{67A95975-D096-E26A-5466-F364B0E8FF9C}" dt="2026-09-23T08:19:36.477" v="1" actId="1076"/>
          <ac:picMkLst>
            <pc:docMk/>
            <pc:sldMk cId="0" sldId="263"/>
            <ac:picMk id="3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FAD450-10C8-4725-8449-8E0CCAC45183}" type="datetimeFigureOut">
              <a:t>24/09/2026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56CC44-2F7C-44D6-BFFC-95EAADC6E9A1}" type="slidenum"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1228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7" Type="http://schemas.openxmlformats.org/officeDocument/2006/relationships/image" Target="../media/image21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svg"/><Relationship Id="rId5" Type="http://schemas.openxmlformats.org/officeDocument/2006/relationships/image" Target="../media/image19.svg"/><Relationship Id="rId4" Type="http://schemas.openxmlformats.org/officeDocument/2006/relationships/image" Target="../media/image18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2504083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kern="0" spc="-112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RELÈVE</a:t>
            </a:r>
            <a:endParaRPr lang="en-US" sz="3700"/>
          </a:p>
        </p:txBody>
      </p:sp>
      <p:sp>
        <p:nvSpPr>
          <p:cNvPr id="4" name="Text 1"/>
          <p:cNvSpPr/>
          <p:nvPr/>
        </p:nvSpPr>
        <p:spPr>
          <a:xfrm>
            <a:off x="661475" y="3170337"/>
            <a:ext cx="629686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L'intérim des aides-soignants, enfin outillé</a:t>
            </a:r>
            <a:endParaRPr lang="en-US" sz="1850"/>
          </a:p>
        </p:txBody>
      </p:sp>
      <p:sp>
        <p:nvSpPr>
          <p:cNvPr id="5" name="Text 2"/>
          <p:cNvSpPr/>
          <p:nvPr/>
        </p:nvSpPr>
        <p:spPr>
          <a:xfrm>
            <a:off x="661475" y="3749080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Projet Epitech D-WEB-901 InteriMatch :  Emma, Nina, Boubacar, Enzo, Dirimo.</a:t>
            </a:r>
            <a:endParaRPr lang="en-US" sz="145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720850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kern="0" spc="-112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Il est six heures trente</a:t>
            </a:r>
            <a:endParaRPr lang="en-US" sz="3700"/>
          </a:p>
        </p:txBody>
      </p:sp>
      <p:sp>
        <p:nvSpPr>
          <p:cNvPr id="4" name="Text 1"/>
          <p:cNvSpPr/>
          <p:nvPr/>
        </p:nvSpPr>
        <p:spPr>
          <a:xfrm>
            <a:off x="661475" y="2594967"/>
            <a:ext cx="6296860" cy="25421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kern="0" spc="-3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aide-soignant se déclare malade. À sept heures, quarante résidents attendent le lever.</a:t>
            </a:r>
            <a:endParaRPr lang="en-US" sz="1450"/>
          </a:p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kern="0" spc="-3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cadre de santé va passer l'heure qui vient au téléphone, à chercher quelqu'un de qualifié, disponible, et légalement autorisé à prendre la mission.</a:t>
            </a:r>
            <a:endParaRPr lang="en-US" sz="145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Cette heure se répète chaque matin, dans des milliers d'établissements. Elle se termine souvent par un poste non couvert.</a:t>
            </a:r>
            <a:endParaRPr lang="en-US" sz="145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551980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kern="0" spc="-112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Une pénurie installée</a:t>
            </a:r>
            <a:endParaRPr lang="en-US" sz="3700"/>
          </a:p>
        </p:txBody>
      </p:sp>
      <p:sp>
        <p:nvSpPr>
          <p:cNvPr id="3" name="Text 1"/>
          <p:cNvSpPr/>
          <p:nvPr/>
        </p:nvSpPr>
        <p:spPr>
          <a:xfrm>
            <a:off x="661475" y="2615109"/>
            <a:ext cx="3465426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900" b="1" kern="0" spc="-147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62 000</a:t>
            </a:r>
            <a:endParaRPr lang="en-US" sz="4900"/>
          </a:p>
        </p:txBody>
      </p:sp>
      <p:sp>
        <p:nvSpPr>
          <p:cNvPr id="4" name="Text 2"/>
          <p:cNvSpPr/>
          <p:nvPr/>
        </p:nvSpPr>
        <p:spPr>
          <a:xfrm>
            <a:off x="661475" y="3475038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b="1" kern="0" spc="-56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Projets de recrutement</a:t>
            </a:r>
            <a:endParaRPr lang="en-US" sz="1850"/>
          </a:p>
        </p:txBody>
      </p:sp>
      <p:sp>
        <p:nvSpPr>
          <p:cNvPr id="5" name="Text 3"/>
          <p:cNvSpPr/>
          <p:nvPr/>
        </p:nvSpPr>
        <p:spPr>
          <a:xfrm>
            <a:off x="661475" y="3883720"/>
            <a:ext cx="346542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kern="0" spc="-3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Aides-soignants en 2026, selon France Travail.</a:t>
            </a:r>
            <a:endParaRPr lang="en-US" sz="1450"/>
          </a:p>
        </p:txBody>
      </p:sp>
      <p:sp>
        <p:nvSpPr>
          <p:cNvPr id="6" name="Text 4"/>
          <p:cNvSpPr/>
          <p:nvPr/>
        </p:nvSpPr>
        <p:spPr>
          <a:xfrm>
            <a:off x="4363135" y="2615109"/>
            <a:ext cx="3465426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900" b="1" kern="0" spc="-147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60 000</a:t>
            </a:r>
            <a:endParaRPr lang="en-US" sz="4900"/>
          </a:p>
        </p:txBody>
      </p:sp>
      <p:sp>
        <p:nvSpPr>
          <p:cNvPr id="7" name="Text 5"/>
          <p:cNvSpPr/>
          <p:nvPr/>
        </p:nvSpPr>
        <p:spPr>
          <a:xfrm>
            <a:off x="4363135" y="3475038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b="1" kern="0" spc="-56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Postes vacants</a:t>
            </a:r>
            <a:endParaRPr lang="en-US" sz="1850"/>
          </a:p>
        </p:txBody>
      </p:sp>
      <p:sp>
        <p:nvSpPr>
          <p:cNvPr id="8" name="Text 6"/>
          <p:cNvSpPr/>
          <p:nvPr/>
        </p:nvSpPr>
        <p:spPr>
          <a:xfrm>
            <a:off x="4363135" y="3883720"/>
            <a:ext cx="346542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kern="0" spc="-3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Soignants en EHPAD, selon la FNADEPA.</a:t>
            </a:r>
            <a:endParaRPr lang="en-US" sz="1450"/>
          </a:p>
        </p:txBody>
      </p:sp>
      <p:sp>
        <p:nvSpPr>
          <p:cNvPr id="9" name="Text 7"/>
          <p:cNvSpPr/>
          <p:nvPr/>
        </p:nvSpPr>
        <p:spPr>
          <a:xfrm>
            <a:off x="8064794" y="2615109"/>
            <a:ext cx="3465426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900" b="1" kern="0" spc="-147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7 500</a:t>
            </a:r>
            <a:endParaRPr lang="en-US" sz="4900"/>
          </a:p>
        </p:txBody>
      </p:sp>
      <p:sp>
        <p:nvSpPr>
          <p:cNvPr id="10" name="Text 8"/>
          <p:cNvSpPr/>
          <p:nvPr/>
        </p:nvSpPr>
        <p:spPr>
          <a:xfrm>
            <a:off x="8064794" y="3475038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b="1" kern="0" spc="-56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EHPAD en France</a:t>
            </a:r>
            <a:endParaRPr lang="en-US" sz="1850"/>
          </a:p>
        </p:txBody>
      </p:sp>
      <p:sp>
        <p:nvSpPr>
          <p:cNvPr id="11" name="Text 9"/>
          <p:cNvSpPr/>
          <p:nvPr/>
        </p:nvSpPr>
        <p:spPr>
          <a:xfrm>
            <a:off x="8064794" y="3883720"/>
            <a:ext cx="346542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kern="0" spc="-3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Auxquels s'ajoutent 1 330 hôpitaux publics, 980 cliniques privées et 655 établissements privés à but non lucratif.</a:t>
            </a:r>
            <a:endParaRPr lang="en-US" sz="1450"/>
          </a:p>
        </p:txBody>
      </p:sp>
      <p:sp>
        <p:nvSpPr>
          <p:cNvPr id="12" name="Text 10"/>
          <p:cNvSpPr/>
          <p:nvPr/>
        </p:nvSpPr>
        <p:spPr>
          <a:xfrm>
            <a:off x="661475" y="5003602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besoin est structurel, porté par le vieillissement et par les départs en retraite.</a:t>
            </a:r>
            <a:endParaRPr lang="en-US" sz="145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537468"/>
            <a:ext cx="6296860" cy="10705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50" b="1" kern="0" spc="-101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Le remplacement, un marché déjà massif</a:t>
            </a:r>
            <a:endParaRPr lang="en-US" sz="3350"/>
          </a:p>
        </p:txBody>
      </p:sp>
      <p:sp>
        <p:nvSpPr>
          <p:cNvPr id="4" name="Text 1"/>
          <p:cNvSpPr/>
          <p:nvPr/>
        </p:nvSpPr>
        <p:spPr>
          <a:xfrm>
            <a:off x="661475" y="1926431"/>
            <a:ext cx="3051396" cy="565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450" b="1" kern="0" spc="-134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825M€</a:t>
            </a:r>
            <a:endParaRPr lang="en-US" sz="4450"/>
          </a:p>
        </p:txBody>
      </p:sp>
      <p:sp>
        <p:nvSpPr>
          <p:cNvPr id="5" name="Text 2"/>
          <p:cNvSpPr/>
          <p:nvPr/>
        </p:nvSpPr>
        <p:spPr>
          <a:xfrm>
            <a:off x="661475" y="2693690"/>
            <a:ext cx="3051396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50" b="1" kern="0" spc="-51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Intérim paramédical</a:t>
            </a:r>
            <a:endParaRPr lang="en-US" sz="1650"/>
          </a:p>
        </p:txBody>
      </p:sp>
      <p:sp>
        <p:nvSpPr>
          <p:cNvPr id="6" name="Text 3"/>
          <p:cNvSpPr/>
          <p:nvPr/>
        </p:nvSpPr>
        <p:spPr>
          <a:xfrm>
            <a:off x="661475" y="3054350"/>
            <a:ext cx="3051396" cy="7837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7000"/>
              </a:lnSpc>
              <a:buNone/>
            </a:pPr>
            <a:r>
              <a:rPr lang="en-US" sz="1300" kern="0" spc="-27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Chiffré par la Cour des comptes en 2023, dont 472 millions pour les seuls hôpitaux publics.</a:t>
            </a:r>
            <a:endParaRPr lang="en-US" sz="1300"/>
          </a:p>
        </p:txBody>
      </p:sp>
      <p:sp>
        <p:nvSpPr>
          <p:cNvPr id="7" name="Text 4"/>
          <p:cNvSpPr/>
          <p:nvPr/>
        </p:nvSpPr>
        <p:spPr>
          <a:xfrm>
            <a:off x="3906839" y="1926431"/>
            <a:ext cx="3051496" cy="565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450" b="1" kern="0" spc="-134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830 000</a:t>
            </a:r>
            <a:endParaRPr lang="en-US" sz="4450"/>
          </a:p>
        </p:txBody>
      </p:sp>
      <p:sp>
        <p:nvSpPr>
          <p:cNvPr id="8" name="Text 5"/>
          <p:cNvSpPr/>
          <p:nvPr/>
        </p:nvSpPr>
        <p:spPr>
          <a:xfrm>
            <a:off x="3906839" y="2693690"/>
            <a:ext cx="3051496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50" b="1" kern="0" spc="-51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Missions</a:t>
            </a:r>
            <a:endParaRPr lang="en-US" sz="1650"/>
          </a:p>
        </p:txBody>
      </p:sp>
      <p:sp>
        <p:nvSpPr>
          <p:cNvPr id="9" name="Text 6"/>
          <p:cNvSpPr/>
          <p:nvPr/>
        </p:nvSpPr>
        <p:spPr>
          <a:xfrm>
            <a:off x="3906839" y="3054350"/>
            <a:ext cx="3051496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7000"/>
              </a:lnSpc>
              <a:buNone/>
            </a:pPr>
            <a:r>
              <a:rPr lang="en-US" sz="1300" kern="0" spc="-27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D'une durée moyenne de 2,3 jours.</a:t>
            </a:r>
            <a:endParaRPr lang="en-US" sz="1300"/>
          </a:p>
        </p:txBody>
      </p:sp>
      <p:sp>
        <p:nvSpPr>
          <p:cNvPr id="10" name="Text 7"/>
          <p:cNvSpPr/>
          <p:nvPr/>
        </p:nvSpPr>
        <p:spPr>
          <a:xfrm>
            <a:off x="2284157" y="4234160"/>
            <a:ext cx="3051396" cy="565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450" b="1" kern="0" spc="-134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95%</a:t>
            </a:r>
            <a:endParaRPr lang="en-US" sz="4450"/>
          </a:p>
        </p:txBody>
      </p:sp>
      <p:sp>
        <p:nvSpPr>
          <p:cNvPr id="11" name="Text 8"/>
          <p:cNvSpPr/>
          <p:nvPr/>
        </p:nvSpPr>
        <p:spPr>
          <a:xfrm>
            <a:off x="2284157" y="5001419"/>
            <a:ext cx="3051396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50" b="1" kern="0" spc="-51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Infirmiers &amp; aides-soignants</a:t>
            </a:r>
            <a:endParaRPr lang="en-US" sz="1650"/>
          </a:p>
        </p:txBody>
      </p:sp>
      <p:sp>
        <p:nvSpPr>
          <p:cNvPr id="12" name="Text 9"/>
          <p:cNvSpPr/>
          <p:nvPr/>
        </p:nvSpPr>
        <p:spPr>
          <a:xfrm>
            <a:off x="2284157" y="5362079"/>
            <a:ext cx="3051396" cy="5224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7000"/>
              </a:lnSpc>
              <a:buNone/>
            </a:pPr>
            <a:r>
              <a:rPr lang="en-US" sz="1300" kern="0" spc="-27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 missions concernent ces deux professions.</a:t>
            </a:r>
            <a:endParaRPr lang="en-US" sz="1300"/>
          </a:p>
        </p:txBody>
      </p:sp>
      <p:sp>
        <p:nvSpPr>
          <p:cNvPr id="13" name="Text 10"/>
          <p:cNvSpPr/>
          <p:nvPr/>
        </p:nvSpPr>
        <p:spPr>
          <a:xfrm>
            <a:off x="661475" y="6059190"/>
            <a:ext cx="6906444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kern="0" spc="-27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 missions courtes, urgentes, répétées. C'est exactement le terrain de Relève.</a:t>
            </a:r>
            <a:endParaRPr lang="en-US" sz="13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8779"/>
            <a:ext cx="10868745" cy="581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b="1" kern="0" spc="-11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Une contrainte légale que personne n'outille</a:t>
            </a:r>
            <a:endParaRPr lang="en-US" sz="365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900337"/>
            <a:ext cx="6905849" cy="39133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027489" y="1588095"/>
            <a:ext cx="3509081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kern="0" spc="-55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Loi Valletoux — 1er juillet 2024</a:t>
            </a:r>
            <a:endParaRPr lang="en-US" sz="1800"/>
          </a:p>
        </p:txBody>
      </p:sp>
      <p:sp>
        <p:nvSpPr>
          <p:cNvPr id="5" name="Text 2"/>
          <p:cNvSpPr/>
          <p:nvPr/>
        </p:nvSpPr>
        <p:spPr>
          <a:xfrm>
            <a:off x="8027489" y="2061964"/>
            <a:ext cx="3509081" cy="2527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spcAft>
                <a:spcPts val="1250"/>
              </a:spcAft>
              <a:buNone/>
            </a:pPr>
            <a:r>
              <a:rPr lang="en-US" sz="1450" kern="0" spc="-29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loi impose </a:t>
            </a:r>
            <a:r>
              <a:rPr lang="en-US" sz="1450" b="1" kern="0" spc="-29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deux ans d'exercice hors intérim</a:t>
            </a:r>
            <a:r>
              <a:rPr lang="en-US" sz="1450" kern="0" spc="-29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soit </a:t>
            </a:r>
            <a:r>
              <a:rPr lang="en-US" sz="1450" b="1" kern="0" spc="-29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3 214 heures</a:t>
            </a:r>
            <a:r>
              <a:rPr lang="en-US" sz="1450" kern="0" spc="-29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avant une première mission d'intérim. L'aide-soignant figure explicitement parmi les professions visées.</a:t>
            </a:r>
            <a:endParaRPr lang="en-US" sz="1450"/>
          </a:p>
          <a:p>
            <a:pPr marL="0" indent="0" algn="l">
              <a:lnSpc>
                <a:spcPct val="132000"/>
              </a:lnSpc>
              <a:buNone/>
            </a:pPr>
            <a:r>
              <a:rPr lang="en-US" sz="1450" kern="0" spc="-29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décret du 24 juin 2024 place l'obligation de vérification sur l'entreprise de travail temporaire.</a:t>
            </a:r>
            <a:endParaRPr lang="en-US" sz="1450"/>
          </a:p>
        </p:txBody>
      </p:sp>
      <p:sp>
        <p:nvSpPr>
          <p:cNvPr id="6" name="Shape 3"/>
          <p:cNvSpPr/>
          <p:nvPr/>
        </p:nvSpPr>
        <p:spPr>
          <a:xfrm>
            <a:off x="8027489" y="4794945"/>
            <a:ext cx="3509081" cy="1308298"/>
          </a:xfrm>
          <a:prstGeom prst="roundRect">
            <a:avLst>
              <a:gd name="adj" fmla="val 5973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3520" y="5071269"/>
            <a:ext cx="232563" cy="18603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632113" y="5006181"/>
            <a:ext cx="2718427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kern="0" spc="-29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Autrement dit, sur nous. Nous en avons fait une fonctionnalité plutôt qu'une formalité.</a:t>
            </a:r>
            <a:endParaRPr lang="en-US" sz="145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316236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kern="0" spc="-112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Le marché n'est pas vide</a:t>
            </a:r>
            <a:endParaRPr lang="en-US" sz="370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284909"/>
            <a:ext cx="3496877" cy="325685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77479" y="2499320"/>
            <a:ext cx="29664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Hublo</a:t>
            </a:r>
            <a:endParaRPr lang="en-US" sz="1850"/>
          </a:p>
        </p:txBody>
      </p:sp>
      <p:sp>
        <p:nvSpPr>
          <p:cNvPr id="5" name="Text 2"/>
          <p:cNvSpPr/>
          <p:nvPr/>
        </p:nvSpPr>
        <p:spPr>
          <a:xfrm>
            <a:off x="977479" y="2908002"/>
            <a:ext cx="2966467" cy="2419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référence du remplacement en établissement. Son modèle repose sur un abonnement, et l'établissement embauche lui-même. Il suppose donc un vivier déjà constitué, et laisse la vérification légale à la charge de l'établissement.</a:t>
            </a:r>
            <a:endParaRPr lang="en-US" sz="145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47359" y="2284909"/>
            <a:ext cx="3496877" cy="325685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663363" y="2499320"/>
            <a:ext cx="29664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Mediflash</a:t>
            </a:r>
            <a:endParaRPr lang="en-US" sz="1850"/>
          </a:p>
        </p:txBody>
      </p:sp>
      <p:sp>
        <p:nvSpPr>
          <p:cNvPr id="8" name="Text 4"/>
          <p:cNvSpPr/>
          <p:nvPr/>
        </p:nvSpPr>
        <p:spPr>
          <a:xfrm>
            <a:off x="4663363" y="2908002"/>
            <a:ext cx="2966467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S'appuie sur le statut d'auto-entrepreneur. Le Conseil d'État a rejeté son recours le 11 février 2025 et confirmé que ce statut est incompatible avec l'exercice d'aide-soignant en établissement.</a:t>
            </a:r>
            <a:endParaRPr lang="en-US" sz="145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33244" y="2284909"/>
            <a:ext cx="3496877" cy="325685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349247" y="2499320"/>
            <a:ext cx="29664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Notre choix</a:t>
            </a:r>
            <a:endParaRPr lang="en-US" sz="1850"/>
          </a:p>
        </p:txBody>
      </p:sp>
      <p:sp>
        <p:nvSpPr>
          <p:cNvPr id="11" name="Text 6"/>
          <p:cNvSpPr/>
          <p:nvPr/>
        </p:nvSpPr>
        <p:spPr>
          <a:xfrm>
            <a:off x="8349247" y="2908002"/>
            <a:ext cx="2966467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Nous avons écarté le modèle auto-entrepreneur, plus rentable mais juridiquement intenable.</a:t>
            </a:r>
            <a:endParaRPr lang="en-US" sz="145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916906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kern="0" spc="-112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Notre proposition de valeur</a:t>
            </a:r>
            <a:endParaRPr lang="en-US" sz="3700"/>
          </a:p>
        </p:txBody>
      </p:sp>
      <p:sp>
        <p:nvSpPr>
          <p:cNvPr id="4" name="Text 1"/>
          <p:cNvSpPr/>
          <p:nvPr/>
        </p:nvSpPr>
        <p:spPr>
          <a:xfrm>
            <a:off x="944936" y="3003649"/>
            <a:ext cx="6013399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Relève apporte aux EHPAD, aux cliniques et aux hôpitaux le vivier d'aides-soignants remplaçants, déjà vérifiés, qu'ils n'ont pas les moyens de constituer.</a:t>
            </a:r>
            <a:endParaRPr lang="en-US" sz="1450"/>
          </a:p>
        </p:txBody>
      </p:sp>
      <p:sp>
        <p:nvSpPr>
          <p:cNvPr id="5" name="Shape 2"/>
          <p:cNvSpPr/>
          <p:nvPr/>
        </p:nvSpPr>
        <p:spPr>
          <a:xfrm>
            <a:off x="661475" y="2791023"/>
            <a:ext cx="25399" cy="1332508"/>
          </a:xfrm>
          <a:prstGeom prst="roundRect">
            <a:avLst>
              <a:gd name="adj" fmla="val 50001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3"/>
          <p:cNvSpPr/>
          <p:nvPr/>
        </p:nvSpPr>
        <p:spPr>
          <a:xfrm>
            <a:off x="661475" y="4336157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Une agence d'intérim numérique, avec un vrai contrat de mission et un contrôle d'éligibilité fait en amont.</a:t>
            </a:r>
            <a:endParaRPr lang="en-US" sz="145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0784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kern="0" spc="-112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Le produit en quatre étapes</a:t>
            </a:r>
            <a:endParaRPr lang="en-US" sz="370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361" y="1551229"/>
            <a:ext cx="10868745" cy="476775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55303" y="5020836"/>
            <a:ext cx="1642671" cy="294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b="1" kern="0" spc="-56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Filtrage</a:t>
            </a:r>
            <a:endParaRPr lang="en-US" sz="1850"/>
          </a:p>
        </p:txBody>
      </p:sp>
      <p:sp>
        <p:nvSpPr>
          <p:cNvPr id="5" name="Text 2"/>
          <p:cNvSpPr/>
          <p:nvPr/>
        </p:nvSpPr>
        <p:spPr>
          <a:xfrm>
            <a:off x="3955303" y="5398629"/>
            <a:ext cx="1642671" cy="4706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kern="0" spc="-49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Plateforme filtre et calcule un score</a:t>
            </a:r>
            <a:endParaRPr lang="en-US" sz="1450"/>
          </a:p>
        </p:txBody>
      </p:sp>
      <p:sp>
        <p:nvSpPr>
          <p:cNvPr id="6" name="Text 3"/>
          <p:cNvSpPr/>
          <p:nvPr/>
        </p:nvSpPr>
        <p:spPr>
          <a:xfrm>
            <a:off x="9173680" y="4785533"/>
            <a:ext cx="1642670" cy="294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b="1" kern="0" spc="-56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Validation</a:t>
            </a:r>
            <a:endParaRPr lang="en-US" sz="1850"/>
          </a:p>
        </p:txBody>
      </p:sp>
      <p:sp>
        <p:nvSpPr>
          <p:cNvPr id="7" name="Text 4"/>
          <p:cNvSpPr/>
          <p:nvPr/>
        </p:nvSpPr>
        <p:spPr>
          <a:xfrm>
            <a:off x="9173680" y="5163326"/>
            <a:ext cx="1642670" cy="7059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kern="0" spc="-49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L'établissement valide et clôt le besoin</a:t>
            </a:r>
            <a:endParaRPr lang="en-US" sz="1450"/>
          </a:p>
        </p:txBody>
      </p:sp>
      <p:sp>
        <p:nvSpPr>
          <p:cNvPr id="8" name="Text 5"/>
          <p:cNvSpPr/>
          <p:nvPr/>
        </p:nvSpPr>
        <p:spPr>
          <a:xfrm>
            <a:off x="1403632" y="1957970"/>
            <a:ext cx="1642671" cy="294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b="1" kern="0" spc="-56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Publication</a:t>
            </a:r>
            <a:endParaRPr lang="en-US" sz="1850"/>
          </a:p>
        </p:txBody>
      </p:sp>
      <p:sp>
        <p:nvSpPr>
          <p:cNvPr id="9" name="Text 6"/>
          <p:cNvSpPr/>
          <p:nvPr/>
        </p:nvSpPr>
        <p:spPr>
          <a:xfrm>
            <a:off x="1403632" y="2335763"/>
            <a:ext cx="1642671" cy="4706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kern="0" spc="-49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L'établissement publie le besoin</a:t>
            </a:r>
            <a:endParaRPr lang="en-US" sz="1450"/>
          </a:p>
        </p:txBody>
      </p:sp>
      <p:sp>
        <p:nvSpPr>
          <p:cNvPr id="10" name="Text 7"/>
          <p:cNvSpPr/>
          <p:nvPr/>
        </p:nvSpPr>
        <p:spPr>
          <a:xfrm>
            <a:off x="6601093" y="1957970"/>
            <a:ext cx="1642670" cy="294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b="1" kern="0" spc="-56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Notification</a:t>
            </a:r>
            <a:endParaRPr lang="en-US" sz="1850"/>
          </a:p>
        </p:txBody>
      </p:sp>
      <p:sp>
        <p:nvSpPr>
          <p:cNvPr id="11" name="Text 8"/>
          <p:cNvSpPr/>
          <p:nvPr/>
        </p:nvSpPr>
        <p:spPr>
          <a:xfrm>
            <a:off x="6601093" y="2335763"/>
            <a:ext cx="1642670" cy="4706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kern="0" spc="-49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 meilleurs profils sont notifiés</a:t>
            </a:r>
            <a:endParaRPr lang="en-US" sz="145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792486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kern="0" spc="-112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Trois partis pris</a:t>
            </a:r>
            <a:endParaRPr lang="en-US" sz="3700"/>
          </a:p>
        </p:txBody>
      </p:sp>
      <p:sp>
        <p:nvSpPr>
          <p:cNvPr id="3" name="Shape 1"/>
          <p:cNvSpPr/>
          <p:nvPr/>
        </p:nvSpPr>
        <p:spPr>
          <a:xfrm>
            <a:off x="661475" y="2761159"/>
            <a:ext cx="3496877" cy="2304355"/>
          </a:xfrm>
          <a:prstGeom prst="roundRect">
            <a:avLst>
              <a:gd name="adj" fmla="val 3445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856832" y="2956520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Nous apportons le vivier</a:t>
            </a:r>
            <a:endParaRPr lang="en-US" sz="1850"/>
          </a:p>
        </p:txBody>
      </p:sp>
      <p:sp>
        <p:nvSpPr>
          <p:cNvPr id="5" name="Text 3"/>
          <p:cNvSpPr/>
          <p:nvPr/>
        </p:nvSpPr>
        <p:spPr>
          <a:xfrm>
            <a:off x="856832" y="3365202"/>
            <a:ext cx="310616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L'établissement ne recrute pas, ne constitue rien, et ne paie rien tant qu'aucune mission n'est passée.</a:t>
            </a:r>
            <a:endParaRPr lang="en-US" sz="1450"/>
          </a:p>
        </p:txBody>
      </p:sp>
      <p:sp>
        <p:nvSpPr>
          <p:cNvPr id="6" name="Shape 4"/>
          <p:cNvSpPr/>
          <p:nvPr/>
        </p:nvSpPr>
        <p:spPr>
          <a:xfrm>
            <a:off x="4347359" y="2761159"/>
            <a:ext cx="3496877" cy="2304355"/>
          </a:xfrm>
          <a:prstGeom prst="roundRect">
            <a:avLst>
              <a:gd name="adj" fmla="val 3445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4542716" y="2956520"/>
            <a:ext cx="3106164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Le contrôle légal est automatique</a:t>
            </a:r>
            <a:endParaRPr lang="en-US" sz="1850"/>
          </a:p>
        </p:txBody>
      </p:sp>
      <p:sp>
        <p:nvSpPr>
          <p:cNvPr id="8" name="Text 6"/>
          <p:cNvSpPr/>
          <p:nvPr/>
        </p:nvSpPr>
        <p:spPr>
          <a:xfrm>
            <a:off x="4542716" y="3660477"/>
            <a:ext cx="3106164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profil qui n'a pas ses 3 214 heures n'apparaît jamais dans une proposition, et il sait combien d'heures il lui manque.</a:t>
            </a:r>
            <a:endParaRPr lang="en-US" sz="1450"/>
          </a:p>
        </p:txBody>
      </p:sp>
      <p:sp>
        <p:nvSpPr>
          <p:cNvPr id="9" name="Shape 7"/>
          <p:cNvSpPr/>
          <p:nvPr/>
        </p:nvSpPr>
        <p:spPr>
          <a:xfrm>
            <a:off x="8033244" y="2761159"/>
            <a:ext cx="3496877" cy="2304355"/>
          </a:xfrm>
          <a:prstGeom prst="roundRect">
            <a:avLst>
              <a:gd name="adj" fmla="val 3445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8228600" y="2956520"/>
            <a:ext cx="3106164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Nos décisions sont explicables</a:t>
            </a:r>
            <a:endParaRPr lang="en-US" sz="1850"/>
          </a:p>
        </p:txBody>
      </p:sp>
      <p:sp>
        <p:nvSpPr>
          <p:cNvPr id="11" name="Text 9"/>
          <p:cNvSpPr/>
          <p:nvPr/>
        </p:nvSpPr>
        <p:spPr>
          <a:xfrm>
            <a:off x="8228600" y="3660477"/>
            <a:ext cx="3106164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Chaque exécution du matching est journalisée : qui a été écarté, par quel filtre, et le détail du score des profils retenus.</a:t>
            </a:r>
            <a:endParaRPr lang="en-US" sz="145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5306"/>
            <a:ext cx="10868745" cy="489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50" b="1" kern="0" spc="-92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L'architecture</a:t>
            </a:r>
            <a:endParaRPr lang="en-US" sz="305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806873"/>
            <a:ext cx="6931050" cy="3927673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61609" y="1355527"/>
            <a:ext cx="3574861" cy="109894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175222" y="1374577"/>
            <a:ext cx="3361249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kern="0" spc="-46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Monorepo &amp; TypeScript</a:t>
            </a:r>
            <a:endParaRPr lang="en-US" sz="1500"/>
          </a:p>
        </p:txBody>
      </p:sp>
      <p:sp>
        <p:nvSpPr>
          <p:cNvPr id="6" name="Text 2"/>
          <p:cNvSpPr/>
          <p:nvPr/>
        </p:nvSpPr>
        <p:spPr>
          <a:xfrm>
            <a:off x="8175222" y="1748730"/>
            <a:ext cx="3361249" cy="6866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kern="0" spc="-25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Monorepo pnpm en TypeScript strict de bout en bout, sur Node 22, avec trois paquets : le serveur, l'interface et les schémas partagés.</a:t>
            </a:r>
            <a:endParaRPr lang="en-US" sz="120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61609" y="2675632"/>
            <a:ext cx="3574861" cy="1098947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175222" y="2694682"/>
            <a:ext cx="3361249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kern="0" spc="-46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Interface   Nuxt 4 &amp; Vue 3</a:t>
            </a:r>
            <a:endParaRPr lang="en-US" sz="1500"/>
          </a:p>
        </p:txBody>
      </p:sp>
      <p:sp>
        <p:nvSpPr>
          <p:cNvPr id="9" name="Text 4"/>
          <p:cNvSpPr/>
          <p:nvPr/>
        </p:nvSpPr>
        <p:spPr>
          <a:xfrm>
            <a:off x="8175222" y="3068836"/>
            <a:ext cx="3361249" cy="6866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kern="0" spc="-25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Rendu côté serveur. Le navigateur ne parle jamais directement à l'API : un BFF intercale les appels et les cookies restent en httpOnly.</a:t>
            </a:r>
            <a:endParaRPr lang="en-US" sz="120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61609" y="3995737"/>
            <a:ext cx="3574861" cy="870049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8175222" y="4014788"/>
            <a:ext cx="3361249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kern="0" spc="-46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Serveur   NestJS 11</a:t>
            </a:r>
            <a:endParaRPr lang="en-US" sz="1500"/>
          </a:p>
        </p:txBody>
      </p:sp>
      <p:sp>
        <p:nvSpPr>
          <p:cNvPr id="12" name="Text 6"/>
          <p:cNvSpPr/>
          <p:nvPr/>
        </p:nvSpPr>
        <p:spPr>
          <a:xfrm>
            <a:off x="8175222" y="4388941"/>
            <a:ext cx="3361249" cy="4577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kern="0" spc="-25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Prisma comme ORM, Zod pour la validation. Documentation d'API générée en OpenAPI.</a:t>
            </a:r>
            <a:endParaRPr lang="en-US" sz="120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61609" y="5086945"/>
            <a:ext cx="3574861" cy="1098947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8175222" y="5105995"/>
            <a:ext cx="3361249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kern="0" spc="-46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Base de données</a:t>
            </a:r>
            <a:endParaRPr lang="en-US" sz="1500"/>
          </a:p>
        </p:txBody>
      </p:sp>
      <p:sp>
        <p:nvSpPr>
          <p:cNvPr id="15" name="Text 8"/>
          <p:cNvSpPr/>
          <p:nvPr/>
        </p:nvSpPr>
        <p:spPr>
          <a:xfrm>
            <a:off x="8175222" y="5480149"/>
            <a:ext cx="3361249" cy="6866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kern="0" spc="-25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PostgreSQL 16 avec PostGIS pour le matching géographique. Redis pour le cache et la limitation de débit.</a:t>
            </a:r>
            <a:endParaRPr lang="en-US" sz="12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2450"/>
            <a:ext cx="10868745" cy="507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b="1" kern="0" spc="-96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Sécurité et données personnelles</a:t>
            </a:r>
            <a:endParaRPr lang="en-US" sz="3150"/>
          </a:p>
        </p:txBody>
      </p:sp>
      <p:sp>
        <p:nvSpPr>
          <p:cNvPr id="3" name="Shape 1"/>
          <p:cNvSpPr/>
          <p:nvPr/>
        </p:nvSpPr>
        <p:spPr>
          <a:xfrm>
            <a:off x="661475" y="1426369"/>
            <a:ext cx="3546485" cy="1481038"/>
          </a:xfrm>
          <a:prstGeom prst="roundRect">
            <a:avLst>
              <a:gd name="adj" fmla="val 4606"/>
            </a:avLst>
          </a:prstGeom>
          <a:solidFill>
            <a:srgbClr val="FFFFFF"/>
          </a:solidFill>
          <a:ln w="1905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842941" y="1607840"/>
            <a:ext cx="3183552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kern="0" spc="-48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Mots de passe</a:t>
            </a:r>
            <a:endParaRPr lang="en-US" sz="1550"/>
          </a:p>
        </p:txBody>
      </p:sp>
      <p:sp>
        <p:nvSpPr>
          <p:cNvPr id="5" name="Text 3"/>
          <p:cNvSpPr/>
          <p:nvPr/>
        </p:nvSpPr>
        <p:spPr>
          <a:xfrm>
            <a:off x="842941" y="2001143"/>
            <a:ext cx="3183552" cy="7247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kern="0" spc="-26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Hachés en </a:t>
            </a:r>
            <a:r>
              <a:rPr lang="en-US" sz="1250" b="1" kern="0" spc="-26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Argon2id</a:t>
            </a:r>
            <a:r>
              <a:rPr lang="en-US" sz="1250" kern="0" spc="-26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la recommandation actuelle. Jetons JWT, Helmet, et limitation des tentatives comptée dans Redis.</a:t>
            </a:r>
            <a:endParaRPr lang="en-US" sz="1250"/>
          </a:p>
        </p:txBody>
      </p:sp>
      <p:sp>
        <p:nvSpPr>
          <p:cNvPr id="6" name="Shape 4"/>
          <p:cNvSpPr/>
          <p:nvPr/>
        </p:nvSpPr>
        <p:spPr>
          <a:xfrm>
            <a:off x="661475" y="3046909"/>
            <a:ext cx="3546485" cy="1481038"/>
          </a:xfrm>
          <a:prstGeom prst="roundRect">
            <a:avLst>
              <a:gd name="adj" fmla="val 4606"/>
            </a:avLst>
          </a:prstGeom>
          <a:solidFill>
            <a:srgbClr val="FFFFFF"/>
          </a:solidFill>
          <a:ln w="1905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842941" y="3228380"/>
            <a:ext cx="3183552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kern="0" spc="-48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Pièces justificatives</a:t>
            </a:r>
            <a:endParaRPr lang="en-US" sz="1550"/>
          </a:p>
        </p:txBody>
      </p:sp>
      <p:sp>
        <p:nvSpPr>
          <p:cNvPr id="8" name="Text 6"/>
          <p:cNvSpPr/>
          <p:nvPr/>
        </p:nvSpPr>
        <p:spPr>
          <a:xfrm>
            <a:off x="842941" y="3621683"/>
            <a:ext cx="3183552" cy="7247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kern="0" spc="-26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Diplôme d'État et pièce d'identité chiffrés au repos en </a:t>
            </a:r>
            <a:r>
              <a:rPr lang="en-US" sz="1250" b="1" kern="0" spc="-26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AES-256-GCM</a:t>
            </a:r>
            <a:r>
              <a:rPr lang="en-US" sz="1250" kern="0" spc="-26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au titre de l'article 32 du RGPD.</a:t>
            </a:r>
            <a:endParaRPr lang="en-US" sz="1250"/>
          </a:p>
        </p:txBody>
      </p:sp>
      <p:sp>
        <p:nvSpPr>
          <p:cNvPr id="9" name="Shape 7"/>
          <p:cNvSpPr/>
          <p:nvPr/>
        </p:nvSpPr>
        <p:spPr>
          <a:xfrm>
            <a:off x="661475" y="4667448"/>
            <a:ext cx="3546485" cy="1481038"/>
          </a:xfrm>
          <a:prstGeom prst="roundRect">
            <a:avLst>
              <a:gd name="adj" fmla="val 4606"/>
            </a:avLst>
          </a:prstGeom>
          <a:solidFill>
            <a:srgbClr val="FFFFFF"/>
          </a:solidFill>
          <a:ln w="1905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842941" y="4848920"/>
            <a:ext cx="3183552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kern="0" spc="-48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Aucune donnée de santé</a:t>
            </a:r>
            <a:endParaRPr lang="en-US" sz="1550"/>
          </a:p>
        </p:txBody>
      </p:sp>
      <p:sp>
        <p:nvSpPr>
          <p:cNvPr id="11" name="Text 9"/>
          <p:cNvSpPr/>
          <p:nvPr/>
        </p:nvSpPr>
        <p:spPr>
          <a:xfrm>
            <a:off x="842941" y="5242223"/>
            <a:ext cx="3183552" cy="7247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kern="0" spc="-26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besoin décrit un poste, un service et des horaires, jamais l'état des patients ou des résidents.</a:t>
            </a:r>
            <a:endParaRPr lang="en-US" sz="125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0580" y="1825030"/>
            <a:ext cx="6925990" cy="392479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68185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kern="0" spc="-112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Les données publiques</a:t>
            </a:r>
            <a:endParaRPr lang="en-US" sz="370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650530"/>
            <a:ext cx="472468" cy="472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0177" y="2650530"/>
            <a:ext cx="275672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API France Travail</a:t>
            </a:r>
            <a:endParaRPr lang="en-US" sz="1850"/>
          </a:p>
        </p:txBody>
      </p:sp>
      <p:sp>
        <p:nvSpPr>
          <p:cNvPr id="5" name="Text 2"/>
          <p:cNvSpPr/>
          <p:nvPr/>
        </p:nvSpPr>
        <p:spPr>
          <a:xfrm>
            <a:off x="1370177" y="3059212"/>
            <a:ext cx="275672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Pour les offres du métier et la tension du marché par bassin d'emploi.</a:t>
            </a:r>
            <a:endParaRPr lang="en-US" sz="145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63135" y="2650530"/>
            <a:ext cx="472468" cy="4724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071836" y="2650530"/>
            <a:ext cx="275672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Base Adresse Nationale</a:t>
            </a:r>
            <a:endParaRPr lang="en-US" sz="1850"/>
          </a:p>
        </p:txBody>
      </p:sp>
      <p:sp>
        <p:nvSpPr>
          <p:cNvPr id="8" name="Text 4"/>
          <p:cNvSpPr/>
          <p:nvPr/>
        </p:nvSpPr>
        <p:spPr>
          <a:xfrm>
            <a:off x="5071836" y="3059212"/>
            <a:ext cx="275672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Pour le géocodage des établissements.</a:t>
            </a:r>
            <a:endParaRPr lang="en-US" sz="145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64794" y="2650530"/>
            <a:ext cx="472468" cy="4724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773496" y="2650530"/>
            <a:ext cx="275672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Pipeline de traitement</a:t>
            </a:r>
            <a:endParaRPr lang="en-US" sz="1850"/>
          </a:p>
        </p:txBody>
      </p:sp>
      <p:sp>
        <p:nvSpPr>
          <p:cNvPr id="11" name="Text 6"/>
          <p:cNvSpPr/>
          <p:nvPr/>
        </p:nvSpPr>
        <p:spPr>
          <a:xfrm>
            <a:off x="8773496" y="3059212"/>
            <a:ext cx="2756724" cy="21169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 données sont importées, nettoyées et normalisées par un outil en ligne de commande développé avec Commander, puis alimentent l'indicateur de tension affiché à la saisie d'un besoin.</a:t>
            </a:r>
            <a:endParaRPr lang="en-US" sz="145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6575"/>
            <a:ext cx="10868745" cy="406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b="1" kern="0" spc="-77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Les automatisations</a:t>
            </a:r>
            <a:endParaRPr lang="en-US" sz="255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177032"/>
            <a:ext cx="6953771" cy="394047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8492" y="2884091"/>
            <a:ext cx="3598078" cy="526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kern="0" spc="-2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Trois workflows </a:t>
            </a:r>
            <a:r>
              <a:rPr lang="en-US" sz="1000" b="1" kern="0" spc="-2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n8n</a:t>
            </a:r>
            <a:r>
              <a:rPr lang="en-US" sz="1000" kern="0" spc="-2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déclenchés par des webhooks dont la signature est vérifiée par </a:t>
            </a:r>
            <a:r>
              <a:rPr lang="en-US" sz="1000" b="1" kern="0" spc="-2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HMAC</a:t>
            </a:r>
            <a:r>
              <a:rPr lang="en-US" sz="1000" kern="0" spc="-2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: aucun appel ne peut être falsifié.</a:t>
            </a:r>
            <a:endParaRPr lang="en-US" sz="1000"/>
          </a:p>
        </p:txBody>
      </p:sp>
      <p:sp>
        <p:nvSpPr>
          <p:cNvPr id="5" name="Shape 2"/>
          <p:cNvSpPr/>
          <p:nvPr/>
        </p:nvSpPr>
        <p:spPr>
          <a:xfrm>
            <a:off x="661475" y="5318522"/>
            <a:ext cx="292291" cy="292298"/>
          </a:xfrm>
          <a:prstGeom prst="roundRect">
            <a:avLst>
              <a:gd name="adj" fmla="val 18673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3"/>
          <p:cNvSpPr/>
          <p:nvPr/>
        </p:nvSpPr>
        <p:spPr>
          <a:xfrm>
            <a:off x="710190" y="5342880"/>
            <a:ext cx="194861" cy="2435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b="1" kern="0" spc="-46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1500"/>
          </a:p>
        </p:txBody>
      </p:sp>
      <p:sp>
        <p:nvSpPr>
          <p:cNvPr id="7" name="Text 4"/>
          <p:cNvSpPr/>
          <p:nvPr/>
        </p:nvSpPr>
        <p:spPr>
          <a:xfrm>
            <a:off x="1043061" y="5363170"/>
            <a:ext cx="3166884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kern="0" spc="-38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Alertes candidats</a:t>
            </a:r>
            <a:endParaRPr lang="en-US" sz="1250"/>
          </a:p>
        </p:txBody>
      </p:sp>
      <p:sp>
        <p:nvSpPr>
          <p:cNvPr id="8" name="Text 5"/>
          <p:cNvSpPr/>
          <p:nvPr/>
        </p:nvSpPr>
        <p:spPr>
          <a:xfrm>
            <a:off x="1043061" y="5619750"/>
            <a:ext cx="3166884" cy="701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kern="0" spc="-2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Réagit à chaque événement d'une mission : alerte urgente aux candidats éligibles, avec un plafond de trois alertes par jour et par personne, puis mise à jour des messages Slack au fil du cycle de vie.</a:t>
            </a:r>
            <a:endParaRPr lang="en-US" sz="1000"/>
          </a:p>
        </p:txBody>
      </p:sp>
      <p:sp>
        <p:nvSpPr>
          <p:cNvPr id="9" name="Shape 6"/>
          <p:cNvSpPr/>
          <p:nvPr/>
        </p:nvSpPr>
        <p:spPr>
          <a:xfrm>
            <a:off x="4321563" y="5318522"/>
            <a:ext cx="292291" cy="292298"/>
          </a:xfrm>
          <a:prstGeom prst="roundRect">
            <a:avLst>
              <a:gd name="adj" fmla="val 18673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7"/>
          <p:cNvSpPr/>
          <p:nvPr/>
        </p:nvSpPr>
        <p:spPr>
          <a:xfrm>
            <a:off x="4370278" y="5342880"/>
            <a:ext cx="194861" cy="2435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b="1" kern="0" spc="-46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1500"/>
          </a:p>
        </p:txBody>
      </p:sp>
      <p:sp>
        <p:nvSpPr>
          <p:cNvPr id="11" name="Text 8"/>
          <p:cNvSpPr/>
          <p:nvPr/>
        </p:nvSpPr>
        <p:spPr>
          <a:xfrm>
            <a:off x="4703149" y="5363170"/>
            <a:ext cx="3166884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kern="0" spc="-38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Relance automatique</a:t>
            </a:r>
            <a:endParaRPr lang="en-US" sz="1250"/>
          </a:p>
        </p:txBody>
      </p:sp>
      <p:sp>
        <p:nvSpPr>
          <p:cNvPr id="12" name="Text 9"/>
          <p:cNvSpPr/>
          <p:nvPr/>
        </p:nvSpPr>
        <p:spPr>
          <a:xfrm>
            <a:off x="4703149" y="5619750"/>
            <a:ext cx="3166884" cy="3508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kern="0" spc="-2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Relance seul les missions sans candidat, trois fois, puis escalade vers un humain.</a:t>
            </a:r>
            <a:endParaRPr lang="en-US" sz="1000"/>
          </a:p>
        </p:txBody>
      </p:sp>
      <p:sp>
        <p:nvSpPr>
          <p:cNvPr id="13" name="Shape 10"/>
          <p:cNvSpPr/>
          <p:nvPr/>
        </p:nvSpPr>
        <p:spPr>
          <a:xfrm>
            <a:off x="7981651" y="5318522"/>
            <a:ext cx="292291" cy="292298"/>
          </a:xfrm>
          <a:prstGeom prst="roundRect">
            <a:avLst>
              <a:gd name="adj" fmla="val 18673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1"/>
          <p:cNvSpPr/>
          <p:nvPr/>
        </p:nvSpPr>
        <p:spPr>
          <a:xfrm>
            <a:off x="8030366" y="5342880"/>
            <a:ext cx="194861" cy="2435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b="1" kern="0" spc="-46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1500"/>
          </a:p>
        </p:txBody>
      </p:sp>
      <p:sp>
        <p:nvSpPr>
          <p:cNvPr id="15" name="Text 12"/>
          <p:cNvSpPr/>
          <p:nvPr/>
        </p:nvSpPr>
        <p:spPr>
          <a:xfrm>
            <a:off x="8363237" y="5363170"/>
            <a:ext cx="3166884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kern="0" spc="-38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Confirmation candidat</a:t>
            </a:r>
            <a:endParaRPr lang="en-US" sz="1250"/>
          </a:p>
        </p:txBody>
      </p:sp>
      <p:sp>
        <p:nvSpPr>
          <p:cNvPr id="16" name="Text 13"/>
          <p:cNvSpPr/>
          <p:nvPr/>
        </p:nvSpPr>
        <p:spPr>
          <a:xfrm>
            <a:off x="8363237" y="5619750"/>
            <a:ext cx="3166884" cy="701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kern="0" spc="-2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Envoie la confirmation au candidat retenu. Chaque envoi laisse une trace dans Airtable, et tout échec remonte sur un canal dédié sans jamais bloquer la suite.</a:t>
            </a:r>
            <a:endParaRPr lang="en-US" sz="10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8659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kern="0" spc="-112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Conformité</a:t>
            </a:r>
            <a:endParaRPr lang="en-US" sz="3700"/>
          </a:p>
        </p:txBody>
      </p:sp>
      <p:sp>
        <p:nvSpPr>
          <p:cNvPr id="3" name="Shape 1"/>
          <p:cNvSpPr/>
          <p:nvPr/>
        </p:nvSpPr>
        <p:spPr>
          <a:xfrm>
            <a:off x="661475" y="1507331"/>
            <a:ext cx="3496877" cy="2462709"/>
          </a:xfrm>
          <a:prstGeom prst="roundRect">
            <a:avLst>
              <a:gd name="adj" fmla="val 3224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856832" y="1702693"/>
            <a:ext cx="567021" cy="567035"/>
          </a:xfrm>
          <a:prstGeom prst="ellipse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2800" y="1858566"/>
            <a:ext cx="255085" cy="25509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6832" y="2458740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RGPD</a:t>
            </a:r>
            <a:endParaRPr lang="en-US" sz="1850"/>
          </a:p>
        </p:txBody>
      </p:sp>
      <p:sp>
        <p:nvSpPr>
          <p:cNvPr id="7" name="Text 4"/>
          <p:cNvSpPr/>
          <p:nvPr/>
        </p:nvSpPr>
        <p:spPr>
          <a:xfrm>
            <a:off x="856832" y="2867422"/>
            <a:ext cx="310616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 légale documentée, durée de conservation annoncée, mentions légales en ligne.</a:t>
            </a:r>
            <a:endParaRPr lang="en-US" sz="1450"/>
          </a:p>
        </p:txBody>
      </p:sp>
      <p:sp>
        <p:nvSpPr>
          <p:cNvPr id="8" name="Shape 5"/>
          <p:cNvSpPr/>
          <p:nvPr/>
        </p:nvSpPr>
        <p:spPr>
          <a:xfrm>
            <a:off x="4347359" y="1507331"/>
            <a:ext cx="3496877" cy="2462709"/>
          </a:xfrm>
          <a:prstGeom prst="roundRect">
            <a:avLst>
              <a:gd name="adj" fmla="val 3224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6"/>
          <p:cNvSpPr/>
          <p:nvPr/>
        </p:nvSpPr>
        <p:spPr>
          <a:xfrm>
            <a:off x="4542716" y="1702693"/>
            <a:ext cx="567021" cy="567035"/>
          </a:xfrm>
          <a:prstGeom prst="ellipse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98684" y="1858566"/>
            <a:ext cx="255085" cy="25509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42716" y="2458740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Code du travail</a:t>
            </a:r>
            <a:endParaRPr lang="en-US" sz="1850"/>
          </a:p>
        </p:txBody>
      </p:sp>
      <p:sp>
        <p:nvSpPr>
          <p:cNvPr id="12" name="Text 8"/>
          <p:cNvSpPr/>
          <p:nvPr/>
        </p:nvSpPr>
        <p:spPr>
          <a:xfrm>
            <a:off x="4542716" y="2867422"/>
            <a:ext cx="310616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Mentions obligatoires du contrat de mission et suivi du cumul de durée.</a:t>
            </a:r>
            <a:endParaRPr lang="en-US" sz="1450"/>
          </a:p>
        </p:txBody>
      </p:sp>
      <p:sp>
        <p:nvSpPr>
          <p:cNvPr id="13" name="Shape 9"/>
          <p:cNvSpPr/>
          <p:nvPr/>
        </p:nvSpPr>
        <p:spPr>
          <a:xfrm>
            <a:off x="8033244" y="1507331"/>
            <a:ext cx="3496877" cy="2462709"/>
          </a:xfrm>
          <a:prstGeom prst="roundRect">
            <a:avLst>
              <a:gd name="adj" fmla="val 3224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Shape 10"/>
          <p:cNvSpPr/>
          <p:nvPr/>
        </p:nvSpPr>
        <p:spPr>
          <a:xfrm>
            <a:off x="8228600" y="1702693"/>
            <a:ext cx="567021" cy="567035"/>
          </a:xfrm>
          <a:prstGeom prst="ellipse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84568" y="1858566"/>
            <a:ext cx="255085" cy="25509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228600" y="2458740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Accessibilité RGAA</a:t>
            </a:r>
            <a:endParaRPr lang="en-US" sz="1850"/>
          </a:p>
        </p:txBody>
      </p:sp>
      <p:sp>
        <p:nvSpPr>
          <p:cNvPr id="17" name="Text 12"/>
          <p:cNvSpPr/>
          <p:nvPr/>
        </p:nvSpPr>
        <p:spPr>
          <a:xfrm>
            <a:off x="8228600" y="2867422"/>
            <a:ext cx="310616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Contrastes, textes alternatifs, navigation au clavier, structure sémantique.</a:t>
            </a:r>
            <a:endParaRPr lang="en-US" sz="1450"/>
          </a:p>
        </p:txBody>
      </p:sp>
      <p:sp>
        <p:nvSpPr>
          <p:cNvPr id="18" name="Shape 13"/>
          <p:cNvSpPr/>
          <p:nvPr/>
        </p:nvSpPr>
        <p:spPr>
          <a:xfrm>
            <a:off x="661475" y="4159052"/>
            <a:ext cx="5339820" cy="2160290"/>
          </a:xfrm>
          <a:prstGeom prst="roundRect">
            <a:avLst>
              <a:gd name="adj" fmla="val 3675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Shape 14"/>
          <p:cNvSpPr/>
          <p:nvPr/>
        </p:nvSpPr>
        <p:spPr>
          <a:xfrm>
            <a:off x="856832" y="4354413"/>
            <a:ext cx="567021" cy="567035"/>
          </a:xfrm>
          <a:prstGeom prst="ellipse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2800" y="4510286"/>
            <a:ext cx="255085" cy="255091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56832" y="5110460"/>
            <a:ext cx="4949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Éco-conception RGESN</a:t>
            </a:r>
            <a:endParaRPr lang="en-US" sz="1850"/>
          </a:p>
        </p:txBody>
      </p:sp>
      <p:sp>
        <p:nvSpPr>
          <p:cNvPr id="22" name="Text 16"/>
          <p:cNvSpPr/>
          <p:nvPr/>
        </p:nvSpPr>
        <p:spPr>
          <a:xfrm>
            <a:off x="856832" y="5519142"/>
            <a:ext cx="494910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Rendu serveur, indicateurs précalculés, images sobres, avec mesure avant et après.</a:t>
            </a:r>
            <a:endParaRPr lang="en-US" sz="1450"/>
          </a:p>
        </p:txBody>
      </p:sp>
      <p:sp>
        <p:nvSpPr>
          <p:cNvPr id="23" name="Shape 17"/>
          <p:cNvSpPr/>
          <p:nvPr/>
        </p:nvSpPr>
        <p:spPr>
          <a:xfrm>
            <a:off x="6190301" y="4159052"/>
            <a:ext cx="5339820" cy="2160290"/>
          </a:xfrm>
          <a:prstGeom prst="roundRect">
            <a:avLst>
              <a:gd name="adj" fmla="val 3675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Shape 18"/>
          <p:cNvSpPr/>
          <p:nvPr/>
        </p:nvSpPr>
        <p:spPr>
          <a:xfrm>
            <a:off x="6385658" y="4354413"/>
            <a:ext cx="567021" cy="567035"/>
          </a:xfrm>
          <a:prstGeom prst="ellipse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41626" y="4510286"/>
            <a:ext cx="255085" cy="255091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6385658" y="5110460"/>
            <a:ext cx="4949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Référencement</a:t>
            </a:r>
            <a:endParaRPr lang="en-US" sz="1850"/>
          </a:p>
        </p:txBody>
      </p:sp>
      <p:sp>
        <p:nvSpPr>
          <p:cNvPr id="27" name="Text 20"/>
          <p:cNvSpPr/>
          <p:nvPr/>
        </p:nvSpPr>
        <p:spPr>
          <a:xfrm>
            <a:off x="6385658" y="5519142"/>
            <a:ext cx="494910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schema.org, liens canoniques, hiérarchie de titres et plan du site sur les pages publiques.</a:t>
            </a:r>
            <a:endParaRPr lang="en-US" sz="145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5227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kern="0" spc="-112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Ce que le pilotage nous a appris</a:t>
            </a:r>
            <a:endParaRPr lang="en-US" sz="370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839020"/>
            <a:ext cx="5203794" cy="37458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32776" y="1796455"/>
            <a:ext cx="5203794" cy="4139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kern="0" spc="-3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Notre premier chiffrage affichait </a:t>
            </a:r>
            <a:r>
              <a:rPr lang="en-US" sz="1450" b="1" kern="0" spc="-3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48 jours-homme planifiés sur 52,5 disponibles</a:t>
            </a:r>
            <a:r>
              <a:rPr lang="en-US" sz="1450" kern="0" spc="-3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soit 91 % d'occupation. Rassurant, et trompeur.</a:t>
            </a:r>
            <a:endParaRPr lang="en-US" sz="1450"/>
          </a:p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kern="0" spc="-3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 ventilant la charge par personne, le développeur ressortait à </a:t>
            </a:r>
            <a:r>
              <a:rPr lang="en-US" sz="1450" b="1" kern="0" spc="-3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148 % de sa capacité</a:t>
            </a:r>
            <a:r>
              <a:rPr lang="en-US" sz="1450" kern="0" spc="-3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Une moyenne globale masquait une allocation impossible.</a:t>
            </a:r>
            <a:endParaRPr lang="en-US" sz="1450"/>
          </a:p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kern="0" spc="-3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Nous avons réaffecté huit tâches vers le product owner, le PMO et la business analyst. Le développeur est redescendu à </a:t>
            </a:r>
            <a:r>
              <a:rPr lang="en-US" sz="1450" b="1" kern="0" spc="-3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93 %</a:t>
            </a:r>
            <a:r>
              <a:rPr lang="en-US" sz="1450" kern="0" spc="-3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45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À l'arrivée, </a:t>
            </a:r>
            <a:r>
              <a:rPr lang="en-US" sz="1450" b="1" kern="0" spc="-3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281,25 heures réellement consommées</a:t>
            </a:r>
            <a:r>
              <a:rPr lang="en-US" sz="1450" kern="0" spc="-3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pour 300 heures estimées, soit un écart de </a:t>
            </a:r>
            <a:r>
              <a:rPr lang="en-US" sz="1450" b="1" kern="0" spc="-3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6,25 % en notre faveur</a:t>
            </a:r>
            <a:r>
              <a:rPr lang="en-US" sz="1450" kern="0" spc="-3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Nous avons livré l'intégralité du périmètre obligatoire et coupé les trois fonctionnalités optionnelles, dans l'ordre décidé à froid au go/nogo.</a:t>
            </a:r>
            <a:endParaRPr lang="en-US" sz="1450"/>
          </a:p>
        </p:txBody>
      </p:sp>
    </p:spTree>
    <p:extLst>
      <p:ext uri="{BB962C8B-B14F-4D97-AF65-F5344CB8AC3E}">
        <p14:creationId xmlns:p14="http://schemas.microsoft.com/office/powerpoint/2010/main" val="14242470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02010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kern="0" spc="-112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Trois écarts assumés</a:t>
            </a:r>
            <a:endParaRPr lang="en-US" sz="370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970683"/>
            <a:ext cx="3496877" cy="291663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268183" y="2099171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b="1" kern="0" spc="-67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2200"/>
          </a:p>
        </p:txBody>
      </p:sp>
      <p:sp>
        <p:nvSpPr>
          <p:cNvPr id="5" name="Text 2"/>
          <p:cNvSpPr/>
          <p:nvPr/>
        </p:nvSpPr>
        <p:spPr>
          <a:xfrm>
            <a:off x="875881" y="2752130"/>
            <a:ext cx="306806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MongoDB → Redis</a:t>
            </a:r>
            <a:endParaRPr lang="en-US" sz="1850"/>
          </a:p>
        </p:txBody>
      </p:sp>
      <p:sp>
        <p:nvSpPr>
          <p:cNvPr id="6" name="Text 3"/>
          <p:cNvSpPr/>
          <p:nvPr/>
        </p:nvSpPr>
        <p:spPr>
          <a:xfrm>
            <a:off x="875881" y="3160812"/>
            <a:ext cx="3068065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Nous avions prévu MongoDB pour les journaux de matching. Redis rend le service attendu pour le cache et la limitation de débit, et évite un composant de plus.</a:t>
            </a:r>
            <a:endParaRPr lang="en-US" sz="145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47359" y="1970683"/>
            <a:ext cx="3496877" cy="291663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954067" y="2099171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b="1" kern="0" spc="-67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2200"/>
          </a:p>
        </p:txBody>
      </p:sp>
      <p:sp>
        <p:nvSpPr>
          <p:cNvPr id="9" name="Text 5"/>
          <p:cNvSpPr/>
          <p:nvPr/>
        </p:nvSpPr>
        <p:spPr>
          <a:xfrm>
            <a:off x="4561766" y="2752130"/>
            <a:ext cx="306806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Discord → Slack</a:t>
            </a:r>
            <a:endParaRPr lang="en-US" sz="1850"/>
          </a:p>
        </p:txBody>
      </p:sp>
      <p:sp>
        <p:nvSpPr>
          <p:cNvPr id="10" name="Text 6"/>
          <p:cNvSpPr/>
          <p:nvPr/>
        </p:nvSpPr>
        <p:spPr>
          <a:xfrm>
            <a:off x="4561766" y="3160812"/>
            <a:ext cx="3068065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Nous avions prévu Discord pour les notifications. Slack s'est imposé, avec la même mécanique de webhooks signés.</a:t>
            </a:r>
            <a:endParaRPr lang="en-US" sz="145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33244" y="1970683"/>
            <a:ext cx="3496877" cy="291663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639952" y="2099171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b="1" kern="0" spc="-67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2200"/>
          </a:p>
        </p:txBody>
      </p:sp>
      <p:sp>
        <p:nvSpPr>
          <p:cNvPr id="13" name="Text 8"/>
          <p:cNvSpPr/>
          <p:nvPr/>
        </p:nvSpPr>
        <p:spPr>
          <a:xfrm>
            <a:off x="8247650" y="2752130"/>
            <a:ext cx="306806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Playwright → Supertest</a:t>
            </a:r>
            <a:endParaRPr lang="en-US" sz="1850"/>
          </a:p>
        </p:txBody>
      </p:sp>
      <p:sp>
        <p:nvSpPr>
          <p:cNvPr id="14" name="Text 9"/>
          <p:cNvSpPr/>
          <p:nvPr/>
        </p:nvSpPr>
        <p:spPr>
          <a:xfrm>
            <a:off x="8247650" y="3160812"/>
            <a:ext cx="3068065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Nous avions prévu Playwright pour les tests fonctionnels. Nous les avons écrits avec Supertest, au niveau de l'API, et documenté à la main ce qui relève de l'affichage.</a:t>
            </a:r>
            <a:endParaRPr lang="en-US" sz="1450"/>
          </a:p>
        </p:txBody>
      </p:sp>
      <p:sp>
        <p:nvSpPr>
          <p:cNvPr id="15" name="Shape 10"/>
          <p:cNvSpPr/>
          <p:nvPr/>
        </p:nvSpPr>
        <p:spPr>
          <a:xfrm>
            <a:off x="661475" y="5099943"/>
            <a:ext cx="10868745" cy="755948"/>
          </a:xfrm>
          <a:prstGeom prst="roundRect">
            <a:avLst>
              <a:gd name="adj" fmla="val 10502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482" y="5367635"/>
            <a:ext cx="236234" cy="18901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275723" y="5336183"/>
            <a:ext cx="1067507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Trois écarts, trois raisons, aucune exigence du sujet abandonnée.</a:t>
            </a:r>
            <a:endParaRPr lang="en-US" sz="145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904577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kern="0" spc="-112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Ce que nous ferions ensuite</a:t>
            </a:r>
            <a:endParaRPr lang="en-US" sz="370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475" y="1778695"/>
            <a:ext cx="945035" cy="139154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795517" y="1967706"/>
            <a:ext cx="516281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Élargir le vivier</a:t>
            </a:r>
            <a:endParaRPr lang="en-US" sz="1850"/>
          </a:p>
        </p:txBody>
      </p:sp>
      <p:sp>
        <p:nvSpPr>
          <p:cNvPr id="6" name="Text 2"/>
          <p:cNvSpPr/>
          <p:nvPr/>
        </p:nvSpPr>
        <p:spPr>
          <a:xfrm>
            <a:off x="1795517" y="2376388"/>
            <a:ext cx="516281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Étendre à d'autres métiers du soin, en commençant par les infirmiers.</a:t>
            </a:r>
            <a:endParaRPr lang="en-US" sz="145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475" y="3170238"/>
            <a:ext cx="945035" cy="139154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795517" y="3359249"/>
            <a:ext cx="516281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Automatiser les contrats</a:t>
            </a:r>
            <a:endParaRPr lang="en-US" sz="1850"/>
          </a:p>
        </p:txBody>
      </p:sp>
      <p:sp>
        <p:nvSpPr>
          <p:cNvPr id="9" name="Text 4"/>
          <p:cNvSpPr/>
          <p:nvPr/>
        </p:nvSpPr>
        <p:spPr>
          <a:xfrm>
            <a:off x="1795517" y="3767931"/>
            <a:ext cx="516281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Automatiser la génération du contrat de mission et la signature électronique.</a:t>
            </a:r>
            <a:endParaRPr lang="en-US" sz="145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475" y="4561780"/>
            <a:ext cx="945035" cy="1391543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795517" y="4750792"/>
            <a:ext cx="516281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Ouvrir la plateforme</a:t>
            </a:r>
            <a:endParaRPr lang="en-US" sz="1850"/>
          </a:p>
        </p:txBody>
      </p:sp>
      <p:sp>
        <p:nvSpPr>
          <p:cNvPr id="12" name="Text 6"/>
          <p:cNvSpPr/>
          <p:nvPr/>
        </p:nvSpPr>
        <p:spPr>
          <a:xfrm>
            <a:off x="1795517" y="5159474"/>
            <a:ext cx="516281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Plusieurs départements, puis les hôpitaux publics, dont l'achat passe par la commande publique.</a:t>
            </a:r>
            <a:endParaRPr lang="en-US" sz="145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2583160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kern="0" spc="-112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Démonstration</a:t>
            </a:r>
            <a:endParaRPr lang="en-US" sz="3700"/>
          </a:p>
        </p:txBody>
      </p:sp>
      <p:sp>
        <p:nvSpPr>
          <p:cNvPr id="4" name="Text 1"/>
          <p:cNvSpPr/>
          <p:nvPr/>
        </p:nvSpPr>
        <p:spPr>
          <a:xfrm>
            <a:off x="5233360" y="3457277"/>
            <a:ext cx="6296860" cy="817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kern="0" spc="-3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 l'inscription d'un établissement à la validation d'une mission.</a:t>
            </a:r>
            <a:endParaRPr lang="en-US" sz="145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Avec, au passage, le contrôle Valletoux en action.</a:t>
            </a:r>
            <a:endParaRPr lang="en-US" sz="145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2219325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kern="0" spc="-112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Merci</a:t>
            </a:r>
            <a:endParaRPr lang="en-US" sz="3700"/>
          </a:p>
        </p:txBody>
      </p:sp>
      <p:sp>
        <p:nvSpPr>
          <p:cNvPr id="4" name="Text 1"/>
          <p:cNvSpPr/>
          <p:nvPr/>
        </p:nvSpPr>
        <p:spPr>
          <a:xfrm>
            <a:off x="5516821" y="3306068"/>
            <a:ext cx="601339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Relève. Le remplacement d'un aide-soignant, sans le téléphone de six heures trente.</a:t>
            </a:r>
            <a:endParaRPr lang="en-US" sz="1450"/>
          </a:p>
        </p:txBody>
      </p:sp>
      <p:sp>
        <p:nvSpPr>
          <p:cNvPr id="5" name="Shape 2"/>
          <p:cNvSpPr/>
          <p:nvPr/>
        </p:nvSpPr>
        <p:spPr>
          <a:xfrm>
            <a:off x="5233360" y="3093442"/>
            <a:ext cx="25399" cy="1030089"/>
          </a:xfrm>
          <a:prstGeom prst="roundRect">
            <a:avLst>
              <a:gd name="adj" fmla="val 50001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3"/>
          <p:cNvSpPr/>
          <p:nvPr/>
        </p:nvSpPr>
        <p:spPr>
          <a:xfrm>
            <a:off x="5233360" y="4336157"/>
            <a:ext cx="69064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Vos questions.</a:t>
            </a:r>
            <a:endParaRPr lang="en-US" sz="14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ADB16486-0B87-514F-B4C3-3ADF55F25B8E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4557713a-fabd-43ff-9db0-aed53b2506ab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1339</Words>
  <Application>Microsoft Macintosh PowerPoint</Application>
  <PresentationFormat>Grand écran</PresentationFormat>
  <Paragraphs>153</Paragraphs>
  <Slides>19</Slides>
  <Notes>19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19</vt:i4>
      </vt:variant>
    </vt:vector>
  </HeadingPairs>
  <TitlesOfParts>
    <vt:vector size="24" baseType="lpstr">
      <vt:lpstr>Inter Bold</vt:lpstr>
      <vt:lpstr>Arial</vt:lpstr>
      <vt:lpstr>Calibri</vt:lpstr>
      <vt:lpstr>Inter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Boubacar Camara</cp:lastModifiedBy>
  <cp:revision>1</cp:revision>
  <dcterms:created xsi:type="dcterms:W3CDTF">2026-09-23T08:08:11Z</dcterms:created>
  <dcterms:modified xsi:type="dcterms:W3CDTF">2026-09-24T13:55:29Z</dcterms:modified>
</cp:coreProperties>
</file>