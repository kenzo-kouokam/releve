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9" r:id="rId14"/>
    <p:sldId id="276" r:id="rId15"/>
    <p:sldId id="277" r:id="rId16"/>
    <p:sldId id="278" r:id="rId17"/>
    <p:sldId id="270" r:id="rId18"/>
    <p:sldId id="275" r:id="rId19"/>
    <p:sldId id="272" r:id="rId20"/>
    <p:sldId id="273" r:id="rId21"/>
    <p:sldId id="265" r:id="rId22"/>
    <p:sldId id="274" r:id="rId23"/>
  </p:sldIdLst>
  <p:sldSz cx="12192000" cy="6858000"/>
  <p:notesSz cx="6858000" cy="12192000"/>
  <p:embeddedFontLst>
    <p:embeddedFont>
      <p:font typeface="Inter" panose="020B0604020202020204" charset="0"/>
      <p:regular r:id="rId25"/>
    </p:embeddedFont>
    <p:embeddedFont>
      <p:font typeface="Inter Bold" panose="020B0604020202020204" charset="0"/>
      <p:regular r:id="rId26"/>
      <p:bold r:id="rId2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BA6AE6-5AA3-B145-8661-8353490DF7B9}" v="1" dt="2026-09-24T13:53:11.461"/>
    <p1510:client id="{B13A3009-5306-C219-E482-DEB7DE19679F}" v="4" dt="2026-09-25T11:36:59.94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na Chastanier" userId="S::nina.chastanier@epitech.eu::59348afb-36d0-4e6e-921f-6bcc3c544e6f" providerId="AD" clId="Web-{B13A3009-5306-C219-E482-DEB7DE19679F}"/>
    <pc:docChg chg="modSld">
      <pc:chgData name="Nina Chastanier" userId="S::nina.chastanier@epitech.eu::59348afb-36d0-4e6e-921f-6bcc3c544e6f" providerId="AD" clId="Web-{B13A3009-5306-C219-E482-DEB7DE19679F}" dt="2026-09-25T11:36:59.945" v="3" actId="1076"/>
      <pc:docMkLst>
        <pc:docMk/>
      </pc:docMkLst>
      <pc:sldChg chg="modSp">
        <pc:chgData name="Nina Chastanier" userId="S::nina.chastanier@epitech.eu::59348afb-36d0-4e6e-921f-6bcc3c544e6f" providerId="AD" clId="Web-{B13A3009-5306-C219-E482-DEB7DE19679F}" dt="2026-09-25T11:36:26.709" v="0" actId="14100"/>
        <pc:sldMkLst>
          <pc:docMk/>
          <pc:sldMk cId="0" sldId="276"/>
        </pc:sldMkLst>
        <pc:picChg chg="mod">
          <ac:chgData name="Nina Chastanier" userId="S::nina.chastanier@epitech.eu::59348afb-36d0-4e6e-921f-6bcc3c544e6f" providerId="AD" clId="Web-{B13A3009-5306-C219-E482-DEB7DE19679F}" dt="2026-09-25T11:36:26.709" v="0" actId="14100"/>
          <ac:picMkLst>
            <pc:docMk/>
            <pc:sldMk cId="0" sldId="276"/>
            <ac:picMk id="5" creationId="{00000000-0000-0000-0000-000000000000}"/>
          </ac:picMkLst>
        </pc:picChg>
      </pc:sldChg>
      <pc:sldChg chg="modSp">
        <pc:chgData name="Nina Chastanier" userId="S::nina.chastanier@epitech.eu::59348afb-36d0-4e6e-921f-6bcc3c544e6f" providerId="AD" clId="Web-{B13A3009-5306-C219-E482-DEB7DE19679F}" dt="2026-09-25T11:36:59.945" v="3" actId="1076"/>
        <pc:sldMkLst>
          <pc:docMk/>
          <pc:sldMk cId="0" sldId="277"/>
        </pc:sldMkLst>
        <pc:spChg chg="mod">
          <ac:chgData name="Nina Chastanier" userId="S::nina.chastanier@epitech.eu::59348afb-36d0-4e6e-921f-6bcc3c544e6f" providerId="AD" clId="Web-{B13A3009-5306-C219-E482-DEB7DE19679F}" dt="2026-09-25T11:36:59.945" v="3" actId="1076"/>
          <ac:spMkLst>
            <pc:docMk/>
            <pc:sldMk cId="0" sldId="277"/>
            <ac:spMk id="6" creationId="{00000000-0000-0000-0000-000000000000}"/>
          </ac:spMkLst>
        </pc:spChg>
        <pc:picChg chg="mod">
          <ac:chgData name="Nina Chastanier" userId="S::nina.chastanier@epitech.eu::59348afb-36d0-4e6e-921f-6bcc3c544e6f" providerId="AD" clId="Web-{B13A3009-5306-C219-E482-DEB7DE19679F}" dt="2026-09-25T11:36:54.054" v="2" actId="14100"/>
          <ac:picMkLst>
            <pc:docMk/>
            <pc:sldMk cId="0" sldId="277"/>
            <ac:picMk id="5"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D5FAD450-10C8-4725-8449-8E0CCAC45183}" type="datetimeFigureOut">
              <a:t>9/25/2026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B056CC44-2F7C-44D6-BFFC-95EAADC6E9A1}" type="slidenum">
              <a:t>‹#›</a:t>
            </a:fld>
            <a:endParaRPr lang="en-US"/>
          </a:p>
        </p:txBody>
      </p:sp>
    </p:spTree>
    <p:extLst>
      <p:ext uri="{BB962C8B-B14F-4D97-AF65-F5344CB8AC3E}">
        <p14:creationId xmlns:p14="http://schemas.microsoft.com/office/powerpoint/2010/main" val="19601228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Ma partie, ce sont les automatisations. L’application ne connaît ni Slack ni Airtable : quand une mission change d’état, elle envoie un événement signé à n8n. n8n décide qui prévenir, sur quel canal et combien de fois, puis rend la main à l’API pour l’envoi des e-mails, parce que c’est elle qui détient les adresses. Trois workflows se partagent le travail, je vous les montre un par un.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premier réagit à tout ce qui arrive à une mission. Si elle démarre dans moins de 48 heures, les candidats éligibles reçoivent une alerte, trois par jour au maximum : sans ce plafond, une journée chargée devient du spam. Côté agence, tout se suit dans Slack, et le message des candidats proposés est ensuite mis à jour en « pourvue » ou « annulée » au lieu de s’empiler. Avant tout cela, la signature est vérifiée : un appel falsifié est rejeté.</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deuxième tourne seul toutes les quinze minutes. Une mission sans candidat depuis 24 heures est relancée, trois fois au maximum. Au-delà, ce n’est plus un oubli mais une mission mal calibrée : on escalade vers un humain. Le seuil se règle sans redéployer, une minute pour la démonstration.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fr-FR"/>
              <a:t>Le troisième est appelé par le premier dès qu’une mission est pourvue. Il fait envoyer la confirmation au candidat retenu ; l’e-mail que vous voyez est réel, reçu pendant un test. Chaque envoi, réussi ou non, laisse une ligne dans Airtable, que l’agence lit sans ouvrir n8n. Si quelque chose échoue, une alerte part sur un canal dédié, sans jamais bloquer la suite.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6F4F4"/>
          </a:solidFill>
          <a:ln/>
        </p:spPr>
        <p:txBody>
          <a:bodyPr/>
          <a:lstStyle/>
          <a:p>
            <a:endParaRPr lang="fr-FR"/>
          </a:p>
        </p:txBody>
      </p:sp>
      <p:sp>
        <p:nvSpPr>
          <p:cNvPr id="3" name="Shape 1"/>
          <p:cNvSpPr/>
          <p:nvPr/>
        </p:nvSpPr>
        <p:spPr>
          <a:xfrm>
            <a:off x="0" y="0"/>
            <a:ext cx="12191695" cy="6858000"/>
          </a:xfrm>
          <a:prstGeom prst="rect">
            <a:avLst/>
          </a:prstGeom>
          <a:solidFill>
            <a:srgbClr val="FFFFFF"/>
          </a:solidFill>
          <a:ln/>
        </p:spPr>
        <p:txBody>
          <a:bodyPr/>
          <a:lstStyle/>
          <a:p>
            <a:endParaRPr lang="fr-F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svg"/></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15.svg"/><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0.svg"/><Relationship Id="rId7" Type="http://schemas.openxmlformats.org/officeDocument/2006/relationships/image" Target="../media/image24.sv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3.svg"/><Relationship Id="rId5" Type="http://schemas.openxmlformats.org/officeDocument/2006/relationships/image" Target="../media/image22.svg"/><Relationship Id="rId4" Type="http://schemas.openxmlformats.org/officeDocument/2006/relationships/image" Target="../media/image21.sv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2504083"/>
            <a:ext cx="6296860"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RELÈVE</a:t>
            </a:r>
            <a:endParaRPr lang="en-US" sz="3700"/>
          </a:p>
        </p:txBody>
      </p:sp>
      <p:sp>
        <p:nvSpPr>
          <p:cNvPr id="4" name="Text 1"/>
          <p:cNvSpPr/>
          <p:nvPr/>
        </p:nvSpPr>
        <p:spPr>
          <a:xfrm>
            <a:off x="661475" y="3170337"/>
            <a:ext cx="6296860"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000000"/>
                </a:solidFill>
                <a:latin typeface="Inter Bold" pitchFamily="34" charset="0"/>
                <a:ea typeface="Inter Bold" pitchFamily="34" charset="-122"/>
                <a:cs typeface="Inter Bold" pitchFamily="34" charset="-120"/>
              </a:rPr>
              <a:t>L'intérim des aides-soignants, enfin outillé</a:t>
            </a:r>
            <a:endParaRPr lang="en-US" sz="1850"/>
          </a:p>
        </p:txBody>
      </p:sp>
      <p:sp>
        <p:nvSpPr>
          <p:cNvPr id="5" name="Text 2"/>
          <p:cNvSpPr/>
          <p:nvPr/>
        </p:nvSpPr>
        <p:spPr>
          <a:xfrm>
            <a:off x="661475" y="3749080"/>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Projet Epitech D-WEB-901 InteriMatch :  Emma, Nina, Boubacar, Enzo, Dirimo.</a:t>
            </a:r>
            <a:endParaRPr lang="en-US" sz="14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720850"/>
            <a:ext cx="6296860"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Il est six heures trente</a:t>
            </a:r>
            <a:endParaRPr lang="en-US" sz="3700"/>
          </a:p>
        </p:txBody>
      </p:sp>
      <p:sp>
        <p:nvSpPr>
          <p:cNvPr id="4" name="Text 1"/>
          <p:cNvSpPr/>
          <p:nvPr/>
        </p:nvSpPr>
        <p:spPr>
          <a:xfrm>
            <a:off x="661475" y="2594967"/>
            <a:ext cx="6296860" cy="2542183"/>
          </a:xfrm>
          <a:prstGeom prst="rect">
            <a:avLst/>
          </a:prstGeom>
          <a:noFill/>
          <a:ln/>
        </p:spPr>
        <p:txBody>
          <a:bodyPr wrap="square" lIns="0" tIns="0" rIns="0" bIns="0" rtlCol="0" anchor="t">
            <a:normAutofit/>
          </a:bodyPr>
          <a:lstStyle/>
          <a:p>
            <a:pPr marL="0" indent="0" algn="l">
              <a:lnSpc>
                <a:spcPct val="133000"/>
              </a:lnSpc>
              <a:spcAft>
                <a:spcPts val="1650"/>
              </a:spcAft>
              <a:buNone/>
            </a:pPr>
            <a:r>
              <a:rPr lang="en-US" sz="1450" kern="0" spc="-30">
                <a:solidFill>
                  <a:srgbClr val="272525"/>
                </a:solidFill>
                <a:latin typeface="Inter" pitchFamily="34" charset="0"/>
                <a:ea typeface="Inter" pitchFamily="34" charset="-122"/>
                <a:cs typeface="Inter" pitchFamily="34" charset="-120"/>
              </a:rPr>
              <a:t>Un aide-soignant se déclare malade. À sept heures, quarante résidents attendent le lever.</a:t>
            </a:r>
            <a:endParaRPr lang="en-US" sz="1450"/>
          </a:p>
          <a:p>
            <a:pPr marL="0" indent="0" algn="l">
              <a:lnSpc>
                <a:spcPct val="133000"/>
              </a:lnSpc>
              <a:spcAft>
                <a:spcPts val="1650"/>
              </a:spcAft>
              <a:buNone/>
            </a:pPr>
            <a:r>
              <a:rPr lang="en-US" sz="1450" kern="0" spc="-30">
                <a:solidFill>
                  <a:srgbClr val="272525"/>
                </a:solidFill>
                <a:latin typeface="Inter" pitchFamily="34" charset="0"/>
                <a:ea typeface="Inter" pitchFamily="34" charset="-122"/>
                <a:cs typeface="Inter" pitchFamily="34" charset="-120"/>
              </a:rPr>
              <a:t>Le cadre de santé va passer l'heure qui vient au téléphone, à chercher quelqu'un de qualifié, disponible, et légalement autorisé à prendre la mission.</a:t>
            </a:r>
            <a:endParaRPr lang="en-US" sz="1450"/>
          </a:p>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Cette heure se répète chaque matin, dans des milliers d'établissements. Elle se termine souvent par un poste non couvert.</a:t>
            </a:r>
            <a:endParaRPr lang="en-US" sz="14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551980"/>
            <a:ext cx="10868745"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Une pénurie installée</a:t>
            </a:r>
            <a:endParaRPr lang="en-US" sz="3700"/>
          </a:p>
        </p:txBody>
      </p:sp>
      <p:sp>
        <p:nvSpPr>
          <p:cNvPr id="3" name="Text 1"/>
          <p:cNvSpPr/>
          <p:nvPr/>
        </p:nvSpPr>
        <p:spPr>
          <a:xfrm>
            <a:off x="661475" y="2615109"/>
            <a:ext cx="3465426" cy="623788"/>
          </a:xfrm>
          <a:prstGeom prst="rect">
            <a:avLst/>
          </a:prstGeom>
          <a:noFill/>
          <a:ln/>
        </p:spPr>
        <p:txBody>
          <a:bodyPr wrap="none" lIns="0" tIns="0" rIns="0" bIns="0" rtlCol="0" anchor="t"/>
          <a:lstStyle/>
          <a:p>
            <a:pPr marL="0" indent="0" algn="ctr">
              <a:lnSpc>
                <a:spcPct val="83000"/>
              </a:lnSpc>
              <a:buNone/>
            </a:pPr>
            <a:r>
              <a:rPr lang="en-US" sz="4900" b="1" kern="0" spc="-147">
                <a:solidFill>
                  <a:srgbClr val="272525"/>
                </a:solidFill>
                <a:latin typeface="Inter Bold" pitchFamily="34" charset="0"/>
                <a:ea typeface="Inter Bold" pitchFamily="34" charset="-122"/>
                <a:cs typeface="Inter Bold" pitchFamily="34" charset="-120"/>
              </a:rPr>
              <a:t>62 000</a:t>
            </a:r>
            <a:endParaRPr lang="en-US" sz="4900"/>
          </a:p>
        </p:txBody>
      </p:sp>
      <p:sp>
        <p:nvSpPr>
          <p:cNvPr id="4" name="Text 2"/>
          <p:cNvSpPr/>
          <p:nvPr/>
        </p:nvSpPr>
        <p:spPr>
          <a:xfrm>
            <a:off x="661475" y="3475038"/>
            <a:ext cx="3465426" cy="295275"/>
          </a:xfrm>
          <a:prstGeom prst="rect">
            <a:avLst/>
          </a:prstGeom>
          <a:noFill/>
          <a:ln/>
        </p:spPr>
        <p:txBody>
          <a:bodyPr wrap="none" lIns="0" tIns="0" rIns="0" bIns="0" rtlCol="0" anchor="t"/>
          <a:lstStyle/>
          <a:p>
            <a:pPr marL="0" indent="0" algn="ctr">
              <a:lnSpc>
                <a:spcPct val="104000"/>
              </a:lnSpc>
              <a:buNone/>
            </a:pPr>
            <a:r>
              <a:rPr lang="en-US" sz="1850" b="1" kern="0" spc="-56">
                <a:solidFill>
                  <a:srgbClr val="272525"/>
                </a:solidFill>
                <a:latin typeface="Inter Bold" pitchFamily="34" charset="0"/>
                <a:ea typeface="Inter Bold" pitchFamily="34" charset="-122"/>
                <a:cs typeface="Inter Bold" pitchFamily="34" charset="-120"/>
              </a:rPr>
              <a:t>Projets de recrutement</a:t>
            </a:r>
            <a:endParaRPr lang="en-US" sz="1850"/>
          </a:p>
        </p:txBody>
      </p:sp>
      <p:sp>
        <p:nvSpPr>
          <p:cNvPr id="5" name="Text 3"/>
          <p:cNvSpPr/>
          <p:nvPr/>
        </p:nvSpPr>
        <p:spPr>
          <a:xfrm>
            <a:off x="661475" y="3883720"/>
            <a:ext cx="3465426" cy="604838"/>
          </a:xfrm>
          <a:prstGeom prst="rect">
            <a:avLst/>
          </a:prstGeom>
          <a:noFill/>
          <a:ln/>
        </p:spPr>
        <p:txBody>
          <a:bodyPr wrap="square" lIns="0" tIns="0" rIns="0" bIns="0" rtlCol="0" anchor="t">
            <a:normAutofit/>
          </a:bodyPr>
          <a:lstStyle/>
          <a:p>
            <a:pPr marL="0" indent="0" algn="ctr">
              <a:lnSpc>
                <a:spcPct val="133000"/>
              </a:lnSpc>
              <a:buNone/>
            </a:pPr>
            <a:r>
              <a:rPr lang="en-US" sz="1450" kern="0" spc="-30">
                <a:solidFill>
                  <a:srgbClr val="272525"/>
                </a:solidFill>
                <a:latin typeface="Inter" pitchFamily="34" charset="0"/>
                <a:ea typeface="Inter" pitchFamily="34" charset="-122"/>
                <a:cs typeface="Inter" pitchFamily="34" charset="-120"/>
              </a:rPr>
              <a:t>Aides-soignants en 2026, selon France Travail.</a:t>
            </a:r>
            <a:endParaRPr lang="en-US" sz="1450"/>
          </a:p>
        </p:txBody>
      </p:sp>
      <p:sp>
        <p:nvSpPr>
          <p:cNvPr id="6" name="Text 4"/>
          <p:cNvSpPr/>
          <p:nvPr/>
        </p:nvSpPr>
        <p:spPr>
          <a:xfrm>
            <a:off x="4363135" y="2615109"/>
            <a:ext cx="3465426" cy="623788"/>
          </a:xfrm>
          <a:prstGeom prst="rect">
            <a:avLst/>
          </a:prstGeom>
          <a:noFill/>
          <a:ln/>
        </p:spPr>
        <p:txBody>
          <a:bodyPr wrap="none" lIns="0" tIns="0" rIns="0" bIns="0" rtlCol="0" anchor="t"/>
          <a:lstStyle/>
          <a:p>
            <a:pPr marL="0" indent="0" algn="ctr">
              <a:lnSpc>
                <a:spcPct val="83000"/>
              </a:lnSpc>
              <a:buNone/>
            </a:pPr>
            <a:r>
              <a:rPr lang="en-US" sz="4900" b="1" kern="0" spc="-147">
                <a:solidFill>
                  <a:srgbClr val="272525"/>
                </a:solidFill>
                <a:latin typeface="Inter Bold" pitchFamily="34" charset="0"/>
                <a:ea typeface="Inter Bold" pitchFamily="34" charset="-122"/>
                <a:cs typeface="Inter Bold" pitchFamily="34" charset="-120"/>
              </a:rPr>
              <a:t>60 000</a:t>
            </a:r>
            <a:endParaRPr lang="en-US" sz="4900"/>
          </a:p>
        </p:txBody>
      </p:sp>
      <p:sp>
        <p:nvSpPr>
          <p:cNvPr id="7" name="Text 5"/>
          <p:cNvSpPr/>
          <p:nvPr/>
        </p:nvSpPr>
        <p:spPr>
          <a:xfrm>
            <a:off x="4363135" y="3475038"/>
            <a:ext cx="3465426" cy="295275"/>
          </a:xfrm>
          <a:prstGeom prst="rect">
            <a:avLst/>
          </a:prstGeom>
          <a:noFill/>
          <a:ln/>
        </p:spPr>
        <p:txBody>
          <a:bodyPr wrap="none" lIns="0" tIns="0" rIns="0" bIns="0" rtlCol="0" anchor="t"/>
          <a:lstStyle/>
          <a:p>
            <a:pPr marL="0" indent="0" algn="ctr">
              <a:lnSpc>
                <a:spcPct val="104000"/>
              </a:lnSpc>
              <a:buNone/>
            </a:pPr>
            <a:r>
              <a:rPr lang="en-US" sz="1850" b="1" kern="0" spc="-56">
                <a:solidFill>
                  <a:srgbClr val="272525"/>
                </a:solidFill>
                <a:latin typeface="Inter Bold" pitchFamily="34" charset="0"/>
                <a:ea typeface="Inter Bold" pitchFamily="34" charset="-122"/>
                <a:cs typeface="Inter Bold" pitchFamily="34" charset="-120"/>
              </a:rPr>
              <a:t>Postes vacants</a:t>
            </a:r>
            <a:endParaRPr lang="en-US" sz="1850"/>
          </a:p>
        </p:txBody>
      </p:sp>
      <p:sp>
        <p:nvSpPr>
          <p:cNvPr id="8" name="Text 6"/>
          <p:cNvSpPr/>
          <p:nvPr/>
        </p:nvSpPr>
        <p:spPr>
          <a:xfrm>
            <a:off x="4363135" y="3883720"/>
            <a:ext cx="3465426" cy="302419"/>
          </a:xfrm>
          <a:prstGeom prst="rect">
            <a:avLst/>
          </a:prstGeom>
          <a:noFill/>
          <a:ln/>
        </p:spPr>
        <p:txBody>
          <a:bodyPr wrap="none" lIns="0" tIns="0" rIns="0" bIns="0" rtlCol="0" anchor="t"/>
          <a:lstStyle/>
          <a:p>
            <a:pPr marL="0" indent="0" algn="ctr">
              <a:lnSpc>
                <a:spcPct val="133000"/>
              </a:lnSpc>
              <a:buNone/>
            </a:pPr>
            <a:r>
              <a:rPr lang="en-US" sz="1450" kern="0" spc="-30">
                <a:solidFill>
                  <a:srgbClr val="272525"/>
                </a:solidFill>
                <a:latin typeface="Inter" pitchFamily="34" charset="0"/>
                <a:ea typeface="Inter" pitchFamily="34" charset="-122"/>
                <a:cs typeface="Inter" pitchFamily="34" charset="-120"/>
              </a:rPr>
              <a:t>Soignants en EHPAD, selon la FNADEPA.</a:t>
            </a:r>
            <a:endParaRPr lang="en-US" sz="1450"/>
          </a:p>
        </p:txBody>
      </p:sp>
      <p:sp>
        <p:nvSpPr>
          <p:cNvPr id="9" name="Text 7"/>
          <p:cNvSpPr/>
          <p:nvPr/>
        </p:nvSpPr>
        <p:spPr>
          <a:xfrm>
            <a:off x="8064794" y="2615109"/>
            <a:ext cx="3465426" cy="623788"/>
          </a:xfrm>
          <a:prstGeom prst="rect">
            <a:avLst/>
          </a:prstGeom>
          <a:noFill/>
          <a:ln/>
        </p:spPr>
        <p:txBody>
          <a:bodyPr wrap="none" lIns="0" tIns="0" rIns="0" bIns="0" rtlCol="0" anchor="t"/>
          <a:lstStyle/>
          <a:p>
            <a:pPr marL="0" indent="0" algn="ctr">
              <a:lnSpc>
                <a:spcPct val="83000"/>
              </a:lnSpc>
              <a:buNone/>
            </a:pPr>
            <a:r>
              <a:rPr lang="en-US" sz="4900" b="1" kern="0" spc="-147">
                <a:solidFill>
                  <a:srgbClr val="272525"/>
                </a:solidFill>
                <a:latin typeface="Inter Bold" pitchFamily="34" charset="0"/>
                <a:ea typeface="Inter Bold" pitchFamily="34" charset="-122"/>
                <a:cs typeface="Inter Bold" pitchFamily="34" charset="-120"/>
              </a:rPr>
              <a:t>7 500</a:t>
            </a:r>
            <a:endParaRPr lang="en-US" sz="4900"/>
          </a:p>
        </p:txBody>
      </p:sp>
      <p:sp>
        <p:nvSpPr>
          <p:cNvPr id="10" name="Text 8"/>
          <p:cNvSpPr/>
          <p:nvPr/>
        </p:nvSpPr>
        <p:spPr>
          <a:xfrm>
            <a:off x="8064794" y="3475038"/>
            <a:ext cx="3465426" cy="295275"/>
          </a:xfrm>
          <a:prstGeom prst="rect">
            <a:avLst/>
          </a:prstGeom>
          <a:noFill/>
          <a:ln/>
        </p:spPr>
        <p:txBody>
          <a:bodyPr wrap="none" lIns="0" tIns="0" rIns="0" bIns="0" rtlCol="0" anchor="t"/>
          <a:lstStyle/>
          <a:p>
            <a:pPr marL="0" indent="0" algn="ctr">
              <a:lnSpc>
                <a:spcPct val="104000"/>
              </a:lnSpc>
              <a:buNone/>
            </a:pPr>
            <a:r>
              <a:rPr lang="en-US" sz="1850" b="1" kern="0" spc="-56">
                <a:solidFill>
                  <a:srgbClr val="272525"/>
                </a:solidFill>
                <a:latin typeface="Inter Bold" pitchFamily="34" charset="0"/>
                <a:ea typeface="Inter Bold" pitchFamily="34" charset="-122"/>
                <a:cs typeface="Inter Bold" pitchFamily="34" charset="-120"/>
              </a:rPr>
              <a:t>EHPAD en France</a:t>
            </a:r>
            <a:endParaRPr lang="en-US" sz="1850"/>
          </a:p>
        </p:txBody>
      </p:sp>
      <p:sp>
        <p:nvSpPr>
          <p:cNvPr id="11" name="Text 9"/>
          <p:cNvSpPr/>
          <p:nvPr/>
        </p:nvSpPr>
        <p:spPr>
          <a:xfrm>
            <a:off x="8064794" y="3883720"/>
            <a:ext cx="3465426" cy="907256"/>
          </a:xfrm>
          <a:prstGeom prst="rect">
            <a:avLst/>
          </a:prstGeom>
          <a:noFill/>
          <a:ln/>
        </p:spPr>
        <p:txBody>
          <a:bodyPr wrap="square" lIns="0" tIns="0" rIns="0" bIns="0" rtlCol="0" anchor="t">
            <a:normAutofit/>
          </a:bodyPr>
          <a:lstStyle/>
          <a:p>
            <a:pPr marL="0" indent="0" algn="ctr">
              <a:lnSpc>
                <a:spcPct val="133000"/>
              </a:lnSpc>
              <a:buNone/>
            </a:pPr>
            <a:r>
              <a:rPr lang="en-US" sz="1450" kern="0" spc="-30">
                <a:solidFill>
                  <a:srgbClr val="272525"/>
                </a:solidFill>
                <a:latin typeface="Inter" pitchFamily="34" charset="0"/>
                <a:ea typeface="Inter" pitchFamily="34" charset="-122"/>
                <a:cs typeface="Inter" pitchFamily="34" charset="-120"/>
              </a:rPr>
              <a:t>Auxquels s'ajoutent 1 330 hôpitaux publics, 980 cliniques privées et 655 établissements privés à but non lucratif.</a:t>
            </a:r>
            <a:endParaRPr lang="en-US" sz="1450"/>
          </a:p>
        </p:txBody>
      </p:sp>
      <p:sp>
        <p:nvSpPr>
          <p:cNvPr id="12" name="Text 10"/>
          <p:cNvSpPr/>
          <p:nvPr/>
        </p:nvSpPr>
        <p:spPr>
          <a:xfrm>
            <a:off x="661475" y="5003602"/>
            <a:ext cx="11478330" cy="302419"/>
          </a:xfrm>
          <a:prstGeom prst="rect">
            <a:avLst/>
          </a:prstGeom>
          <a:noFill/>
          <a:ln/>
        </p:spPr>
        <p:txBody>
          <a:bodyPr wrap="none" lIns="0" tIns="0" rIns="0" bIns="0" rtlCol="0" anchor="t"/>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Le besoin est structurel, porté par le vieillissement et par les départs en retraite.</a:t>
            </a:r>
            <a:endParaRPr lang="en-US" sz="14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537468"/>
            <a:ext cx="6296860" cy="1070570"/>
          </a:xfrm>
          <a:prstGeom prst="rect">
            <a:avLst/>
          </a:prstGeom>
          <a:noFill/>
          <a:ln/>
        </p:spPr>
        <p:txBody>
          <a:bodyPr wrap="square" lIns="0" tIns="0" rIns="0" bIns="0" rtlCol="0" anchor="t">
            <a:normAutofit/>
          </a:bodyPr>
          <a:lstStyle/>
          <a:p>
            <a:pPr marL="0" indent="0" algn="l">
              <a:lnSpc>
                <a:spcPct val="104000"/>
              </a:lnSpc>
              <a:buNone/>
            </a:pPr>
            <a:r>
              <a:rPr lang="en-US" sz="3350" b="1" kern="0" spc="-101">
                <a:solidFill>
                  <a:srgbClr val="000000"/>
                </a:solidFill>
                <a:latin typeface="Inter Bold" pitchFamily="34" charset="0"/>
                <a:ea typeface="Inter Bold" pitchFamily="34" charset="-122"/>
                <a:cs typeface="Inter Bold" pitchFamily="34" charset="-120"/>
              </a:rPr>
              <a:t>Le remplacement, un marché déjà massif</a:t>
            </a:r>
            <a:endParaRPr lang="en-US" sz="3350"/>
          </a:p>
        </p:txBody>
      </p:sp>
      <p:sp>
        <p:nvSpPr>
          <p:cNvPr id="4" name="Text 1"/>
          <p:cNvSpPr/>
          <p:nvPr/>
        </p:nvSpPr>
        <p:spPr>
          <a:xfrm>
            <a:off x="661475" y="1926431"/>
            <a:ext cx="3051396" cy="565249"/>
          </a:xfrm>
          <a:prstGeom prst="rect">
            <a:avLst/>
          </a:prstGeom>
          <a:noFill/>
          <a:ln/>
        </p:spPr>
        <p:txBody>
          <a:bodyPr wrap="none" lIns="0" tIns="0" rIns="0" bIns="0" rtlCol="0" anchor="t"/>
          <a:lstStyle/>
          <a:p>
            <a:pPr marL="0" indent="0" algn="ctr">
              <a:lnSpc>
                <a:spcPct val="83000"/>
              </a:lnSpc>
              <a:buNone/>
            </a:pPr>
            <a:r>
              <a:rPr lang="en-US" sz="4450" b="1" kern="0" spc="-134">
                <a:solidFill>
                  <a:srgbClr val="272525"/>
                </a:solidFill>
                <a:latin typeface="Inter Bold" pitchFamily="34" charset="0"/>
                <a:ea typeface="Inter Bold" pitchFamily="34" charset="-122"/>
                <a:cs typeface="Inter Bold" pitchFamily="34" charset="-120"/>
              </a:rPr>
              <a:t>825M€</a:t>
            </a:r>
            <a:endParaRPr lang="en-US" sz="4450"/>
          </a:p>
        </p:txBody>
      </p:sp>
      <p:sp>
        <p:nvSpPr>
          <p:cNvPr id="5" name="Text 2"/>
          <p:cNvSpPr/>
          <p:nvPr/>
        </p:nvSpPr>
        <p:spPr>
          <a:xfrm>
            <a:off x="661475" y="2693690"/>
            <a:ext cx="3051396" cy="267593"/>
          </a:xfrm>
          <a:prstGeom prst="rect">
            <a:avLst/>
          </a:prstGeom>
          <a:noFill/>
          <a:ln/>
        </p:spPr>
        <p:txBody>
          <a:bodyPr wrap="none" lIns="0" tIns="0" rIns="0" bIns="0" rtlCol="0" anchor="t"/>
          <a:lstStyle/>
          <a:p>
            <a:pPr marL="0" indent="0" algn="ctr">
              <a:lnSpc>
                <a:spcPct val="104000"/>
              </a:lnSpc>
              <a:buNone/>
            </a:pPr>
            <a:r>
              <a:rPr lang="en-US" sz="1650" b="1" kern="0" spc="-51">
                <a:solidFill>
                  <a:srgbClr val="272525"/>
                </a:solidFill>
                <a:latin typeface="Inter Bold" pitchFamily="34" charset="0"/>
                <a:ea typeface="Inter Bold" pitchFamily="34" charset="-122"/>
                <a:cs typeface="Inter Bold" pitchFamily="34" charset="-120"/>
              </a:rPr>
              <a:t>Intérim paramédical</a:t>
            </a:r>
            <a:endParaRPr lang="en-US" sz="1650"/>
          </a:p>
        </p:txBody>
      </p:sp>
      <p:sp>
        <p:nvSpPr>
          <p:cNvPr id="6" name="Text 3"/>
          <p:cNvSpPr/>
          <p:nvPr/>
        </p:nvSpPr>
        <p:spPr>
          <a:xfrm>
            <a:off x="661475" y="3054350"/>
            <a:ext cx="3051396" cy="783729"/>
          </a:xfrm>
          <a:prstGeom prst="rect">
            <a:avLst/>
          </a:prstGeom>
          <a:noFill/>
          <a:ln/>
        </p:spPr>
        <p:txBody>
          <a:bodyPr wrap="square" lIns="0" tIns="0" rIns="0" bIns="0" rtlCol="0" anchor="t">
            <a:normAutofit/>
          </a:bodyPr>
          <a:lstStyle/>
          <a:p>
            <a:pPr marL="0" indent="0" algn="ctr">
              <a:lnSpc>
                <a:spcPct val="127000"/>
              </a:lnSpc>
              <a:buNone/>
            </a:pPr>
            <a:r>
              <a:rPr lang="en-US" sz="1300" kern="0" spc="-27">
                <a:solidFill>
                  <a:srgbClr val="272525"/>
                </a:solidFill>
                <a:latin typeface="Inter" pitchFamily="34" charset="0"/>
                <a:ea typeface="Inter" pitchFamily="34" charset="-122"/>
                <a:cs typeface="Inter" pitchFamily="34" charset="-120"/>
              </a:rPr>
              <a:t>Chiffré par la Cour des comptes en 2023, dont 472 millions pour les seuls hôpitaux publics.</a:t>
            </a:r>
            <a:endParaRPr lang="en-US" sz="1300"/>
          </a:p>
        </p:txBody>
      </p:sp>
      <p:sp>
        <p:nvSpPr>
          <p:cNvPr id="7" name="Text 4"/>
          <p:cNvSpPr/>
          <p:nvPr/>
        </p:nvSpPr>
        <p:spPr>
          <a:xfrm>
            <a:off x="3906839" y="1926431"/>
            <a:ext cx="3051496" cy="565249"/>
          </a:xfrm>
          <a:prstGeom prst="rect">
            <a:avLst/>
          </a:prstGeom>
          <a:noFill/>
          <a:ln/>
        </p:spPr>
        <p:txBody>
          <a:bodyPr wrap="none" lIns="0" tIns="0" rIns="0" bIns="0" rtlCol="0" anchor="t"/>
          <a:lstStyle/>
          <a:p>
            <a:pPr marL="0" indent="0" algn="ctr">
              <a:lnSpc>
                <a:spcPct val="83000"/>
              </a:lnSpc>
              <a:buNone/>
            </a:pPr>
            <a:r>
              <a:rPr lang="en-US" sz="4450" b="1" kern="0" spc="-134">
                <a:solidFill>
                  <a:srgbClr val="272525"/>
                </a:solidFill>
                <a:latin typeface="Inter Bold" pitchFamily="34" charset="0"/>
                <a:ea typeface="Inter Bold" pitchFamily="34" charset="-122"/>
                <a:cs typeface="Inter Bold" pitchFamily="34" charset="-120"/>
              </a:rPr>
              <a:t>830 000</a:t>
            </a:r>
            <a:endParaRPr lang="en-US" sz="4450"/>
          </a:p>
        </p:txBody>
      </p:sp>
      <p:sp>
        <p:nvSpPr>
          <p:cNvPr id="8" name="Text 5"/>
          <p:cNvSpPr/>
          <p:nvPr/>
        </p:nvSpPr>
        <p:spPr>
          <a:xfrm>
            <a:off x="3906839" y="2693690"/>
            <a:ext cx="3051496" cy="267593"/>
          </a:xfrm>
          <a:prstGeom prst="rect">
            <a:avLst/>
          </a:prstGeom>
          <a:noFill/>
          <a:ln/>
        </p:spPr>
        <p:txBody>
          <a:bodyPr wrap="none" lIns="0" tIns="0" rIns="0" bIns="0" rtlCol="0" anchor="t"/>
          <a:lstStyle/>
          <a:p>
            <a:pPr marL="0" indent="0" algn="ctr">
              <a:lnSpc>
                <a:spcPct val="104000"/>
              </a:lnSpc>
              <a:buNone/>
            </a:pPr>
            <a:r>
              <a:rPr lang="en-US" sz="1650" b="1" kern="0" spc="-51">
                <a:solidFill>
                  <a:srgbClr val="272525"/>
                </a:solidFill>
                <a:latin typeface="Inter Bold" pitchFamily="34" charset="0"/>
                <a:ea typeface="Inter Bold" pitchFamily="34" charset="-122"/>
                <a:cs typeface="Inter Bold" pitchFamily="34" charset="-120"/>
              </a:rPr>
              <a:t>Missions</a:t>
            </a:r>
            <a:endParaRPr lang="en-US" sz="1650"/>
          </a:p>
        </p:txBody>
      </p:sp>
      <p:sp>
        <p:nvSpPr>
          <p:cNvPr id="9" name="Text 6"/>
          <p:cNvSpPr/>
          <p:nvPr/>
        </p:nvSpPr>
        <p:spPr>
          <a:xfrm>
            <a:off x="3906839" y="3054350"/>
            <a:ext cx="3051496" cy="261243"/>
          </a:xfrm>
          <a:prstGeom prst="rect">
            <a:avLst/>
          </a:prstGeom>
          <a:noFill/>
          <a:ln/>
        </p:spPr>
        <p:txBody>
          <a:bodyPr wrap="none" lIns="0" tIns="0" rIns="0" bIns="0" rtlCol="0" anchor="t"/>
          <a:lstStyle/>
          <a:p>
            <a:pPr marL="0" indent="0" algn="ctr">
              <a:lnSpc>
                <a:spcPct val="127000"/>
              </a:lnSpc>
              <a:buNone/>
            </a:pPr>
            <a:r>
              <a:rPr lang="en-US" sz="1300" kern="0" spc="-27">
                <a:solidFill>
                  <a:srgbClr val="272525"/>
                </a:solidFill>
                <a:latin typeface="Inter" pitchFamily="34" charset="0"/>
                <a:ea typeface="Inter" pitchFamily="34" charset="-122"/>
                <a:cs typeface="Inter" pitchFamily="34" charset="-120"/>
              </a:rPr>
              <a:t>D'une durée moyenne de 2,3 jours.</a:t>
            </a:r>
            <a:endParaRPr lang="en-US" sz="1300"/>
          </a:p>
        </p:txBody>
      </p:sp>
      <p:sp>
        <p:nvSpPr>
          <p:cNvPr id="10" name="Text 7"/>
          <p:cNvSpPr/>
          <p:nvPr/>
        </p:nvSpPr>
        <p:spPr>
          <a:xfrm>
            <a:off x="2284157" y="4234160"/>
            <a:ext cx="3051396" cy="565249"/>
          </a:xfrm>
          <a:prstGeom prst="rect">
            <a:avLst/>
          </a:prstGeom>
          <a:noFill/>
          <a:ln/>
        </p:spPr>
        <p:txBody>
          <a:bodyPr wrap="none" lIns="0" tIns="0" rIns="0" bIns="0" rtlCol="0" anchor="t"/>
          <a:lstStyle/>
          <a:p>
            <a:pPr marL="0" indent="0" algn="ctr">
              <a:lnSpc>
                <a:spcPct val="83000"/>
              </a:lnSpc>
              <a:buNone/>
            </a:pPr>
            <a:r>
              <a:rPr lang="en-US" sz="4450" b="1" kern="0" spc="-134">
                <a:solidFill>
                  <a:srgbClr val="272525"/>
                </a:solidFill>
                <a:latin typeface="Inter Bold" pitchFamily="34" charset="0"/>
                <a:ea typeface="Inter Bold" pitchFamily="34" charset="-122"/>
                <a:cs typeface="Inter Bold" pitchFamily="34" charset="-120"/>
              </a:rPr>
              <a:t>95%</a:t>
            </a:r>
            <a:endParaRPr lang="en-US" sz="4450"/>
          </a:p>
        </p:txBody>
      </p:sp>
      <p:sp>
        <p:nvSpPr>
          <p:cNvPr id="11" name="Text 8"/>
          <p:cNvSpPr/>
          <p:nvPr/>
        </p:nvSpPr>
        <p:spPr>
          <a:xfrm>
            <a:off x="2284157" y="5001419"/>
            <a:ext cx="3051396" cy="267593"/>
          </a:xfrm>
          <a:prstGeom prst="rect">
            <a:avLst/>
          </a:prstGeom>
          <a:noFill/>
          <a:ln/>
        </p:spPr>
        <p:txBody>
          <a:bodyPr wrap="none" lIns="0" tIns="0" rIns="0" bIns="0" rtlCol="0" anchor="t"/>
          <a:lstStyle/>
          <a:p>
            <a:pPr marL="0" indent="0" algn="ctr">
              <a:lnSpc>
                <a:spcPct val="104000"/>
              </a:lnSpc>
              <a:buNone/>
            </a:pPr>
            <a:r>
              <a:rPr lang="en-US" sz="1650" b="1" kern="0" spc="-51">
                <a:solidFill>
                  <a:srgbClr val="272525"/>
                </a:solidFill>
                <a:latin typeface="Inter Bold" pitchFamily="34" charset="0"/>
                <a:ea typeface="Inter Bold" pitchFamily="34" charset="-122"/>
                <a:cs typeface="Inter Bold" pitchFamily="34" charset="-120"/>
              </a:rPr>
              <a:t>Infirmiers &amp; aides-soignants</a:t>
            </a:r>
            <a:endParaRPr lang="en-US" sz="1650"/>
          </a:p>
        </p:txBody>
      </p:sp>
      <p:sp>
        <p:nvSpPr>
          <p:cNvPr id="12" name="Text 9"/>
          <p:cNvSpPr/>
          <p:nvPr/>
        </p:nvSpPr>
        <p:spPr>
          <a:xfrm>
            <a:off x="2284157" y="5362079"/>
            <a:ext cx="3051396" cy="522486"/>
          </a:xfrm>
          <a:prstGeom prst="rect">
            <a:avLst/>
          </a:prstGeom>
          <a:noFill/>
          <a:ln/>
        </p:spPr>
        <p:txBody>
          <a:bodyPr wrap="square" lIns="0" tIns="0" rIns="0" bIns="0" rtlCol="0" anchor="t">
            <a:normAutofit/>
          </a:bodyPr>
          <a:lstStyle/>
          <a:p>
            <a:pPr marL="0" indent="0" algn="ctr">
              <a:lnSpc>
                <a:spcPct val="127000"/>
              </a:lnSpc>
              <a:buNone/>
            </a:pPr>
            <a:r>
              <a:rPr lang="en-US" sz="1300" kern="0" spc="-27">
                <a:solidFill>
                  <a:srgbClr val="272525"/>
                </a:solidFill>
                <a:latin typeface="Inter" pitchFamily="34" charset="0"/>
                <a:ea typeface="Inter" pitchFamily="34" charset="-122"/>
                <a:cs typeface="Inter" pitchFamily="34" charset="-120"/>
              </a:rPr>
              <a:t>Des missions concernent ces deux professions.</a:t>
            </a:r>
            <a:endParaRPr lang="en-US" sz="1300"/>
          </a:p>
        </p:txBody>
      </p:sp>
      <p:sp>
        <p:nvSpPr>
          <p:cNvPr id="13" name="Text 10"/>
          <p:cNvSpPr/>
          <p:nvPr/>
        </p:nvSpPr>
        <p:spPr>
          <a:xfrm>
            <a:off x="661475" y="6059190"/>
            <a:ext cx="6906444" cy="261243"/>
          </a:xfrm>
          <a:prstGeom prst="rect">
            <a:avLst/>
          </a:prstGeom>
          <a:noFill/>
          <a:ln/>
        </p:spPr>
        <p:txBody>
          <a:bodyPr wrap="none" lIns="0" tIns="0" rIns="0" bIns="0" rtlCol="0" anchor="t"/>
          <a:lstStyle/>
          <a:p>
            <a:pPr marL="0" indent="0" algn="l">
              <a:lnSpc>
                <a:spcPct val="127000"/>
              </a:lnSpc>
              <a:buNone/>
            </a:pPr>
            <a:r>
              <a:rPr lang="en-US" sz="1300" kern="0" spc="-27">
                <a:solidFill>
                  <a:srgbClr val="272525"/>
                </a:solidFill>
                <a:latin typeface="Inter" pitchFamily="34" charset="0"/>
                <a:ea typeface="Inter" pitchFamily="34" charset="-122"/>
                <a:cs typeface="Inter" pitchFamily="34" charset="-120"/>
              </a:rPr>
              <a:t>Des missions courtes, urgentes, répétées. C'est exactement le terrain de Relève.</a:t>
            </a:r>
            <a:endParaRPr lang="en-US" sz="13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548779"/>
            <a:ext cx="10868745" cy="581422"/>
          </a:xfrm>
          <a:prstGeom prst="rect">
            <a:avLst/>
          </a:prstGeom>
          <a:noFill/>
          <a:ln/>
        </p:spPr>
        <p:txBody>
          <a:bodyPr wrap="none" lIns="0" tIns="0" rIns="0" bIns="0" rtlCol="0" anchor="t"/>
          <a:lstStyle/>
          <a:p>
            <a:pPr marL="0" indent="0" algn="l">
              <a:lnSpc>
                <a:spcPct val="104000"/>
              </a:lnSpc>
              <a:buNone/>
            </a:pPr>
            <a:r>
              <a:rPr lang="en-US" sz="3650" b="1" kern="0" spc="-110">
                <a:solidFill>
                  <a:srgbClr val="000000"/>
                </a:solidFill>
                <a:latin typeface="Inter Bold" pitchFamily="34" charset="0"/>
                <a:ea typeface="Inter Bold" pitchFamily="34" charset="-122"/>
                <a:cs typeface="Inter Bold" pitchFamily="34" charset="-120"/>
              </a:rPr>
              <a:t>Une contrainte légale que personne n'outille</a:t>
            </a:r>
            <a:endParaRPr lang="en-US" sz="3650"/>
          </a:p>
        </p:txBody>
      </p:sp>
      <p:pic>
        <p:nvPicPr>
          <p:cNvPr id="3" name="Image 0" descr="preencoded.png"/>
          <p:cNvPicPr>
            <a:picLocks noChangeAspect="1"/>
          </p:cNvPicPr>
          <p:nvPr/>
        </p:nvPicPr>
        <p:blipFill>
          <a:blip r:embed="rId3"/>
          <a:stretch>
            <a:fillRect/>
          </a:stretch>
        </p:blipFill>
        <p:spPr>
          <a:xfrm>
            <a:off x="661475" y="1900337"/>
            <a:ext cx="6905849" cy="3913386"/>
          </a:xfrm>
          <a:prstGeom prst="rect">
            <a:avLst/>
          </a:prstGeom>
        </p:spPr>
      </p:pic>
      <p:sp>
        <p:nvSpPr>
          <p:cNvPr id="4" name="Text 1"/>
          <p:cNvSpPr/>
          <p:nvPr/>
        </p:nvSpPr>
        <p:spPr>
          <a:xfrm>
            <a:off x="8027489" y="1588095"/>
            <a:ext cx="3509081" cy="290711"/>
          </a:xfrm>
          <a:prstGeom prst="rect">
            <a:avLst/>
          </a:prstGeom>
          <a:noFill/>
          <a:ln/>
        </p:spPr>
        <p:txBody>
          <a:bodyPr wrap="none" lIns="0" tIns="0" rIns="0" bIns="0" rtlCol="0" anchor="t"/>
          <a:lstStyle/>
          <a:p>
            <a:pPr marL="0" indent="0" algn="l">
              <a:lnSpc>
                <a:spcPct val="104000"/>
              </a:lnSpc>
              <a:buNone/>
            </a:pPr>
            <a:r>
              <a:rPr lang="en-US" sz="1800" b="1" kern="0" spc="-55">
                <a:solidFill>
                  <a:srgbClr val="000000"/>
                </a:solidFill>
                <a:latin typeface="Inter Bold" pitchFamily="34" charset="0"/>
                <a:ea typeface="Inter Bold" pitchFamily="34" charset="-122"/>
                <a:cs typeface="Inter Bold" pitchFamily="34" charset="-120"/>
              </a:rPr>
              <a:t>Loi Valletoux — 1er juillet 2024</a:t>
            </a:r>
            <a:endParaRPr lang="en-US" sz="1800"/>
          </a:p>
        </p:txBody>
      </p:sp>
      <p:sp>
        <p:nvSpPr>
          <p:cNvPr id="5" name="Text 2"/>
          <p:cNvSpPr/>
          <p:nvPr/>
        </p:nvSpPr>
        <p:spPr>
          <a:xfrm>
            <a:off x="8027489" y="2061964"/>
            <a:ext cx="3509081" cy="2527002"/>
          </a:xfrm>
          <a:prstGeom prst="rect">
            <a:avLst/>
          </a:prstGeom>
          <a:noFill/>
          <a:ln/>
        </p:spPr>
        <p:txBody>
          <a:bodyPr wrap="square" lIns="0" tIns="0" rIns="0" bIns="0" rtlCol="0" anchor="t">
            <a:normAutofit/>
          </a:bodyPr>
          <a:lstStyle/>
          <a:p>
            <a:pPr marL="0" indent="0" algn="l">
              <a:lnSpc>
                <a:spcPct val="132000"/>
              </a:lnSpc>
              <a:spcAft>
                <a:spcPts val="1250"/>
              </a:spcAft>
              <a:buNone/>
            </a:pPr>
            <a:r>
              <a:rPr lang="en-US" sz="1450" kern="0" spc="-29">
                <a:solidFill>
                  <a:srgbClr val="272525"/>
                </a:solidFill>
                <a:latin typeface="Inter" pitchFamily="34" charset="0"/>
                <a:ea typeface="Inter" pitchFamily="34" charset="-122"/>
                <a:cs typeface="Inter" pitchFamily="34" charset="-120"/>
              </a:rPr>
              <a:t>La loi impose </a:t>
            </a:r>
            <a:r>
              <a:rPr lang="en-US" sz="1450" b="1" kern="0" spc="-29">
                <a:solidFill>
                  <a:srgbClr val="272525"/>
                </a:solidFill>
                <a:latin typeface="Inter Bold" pitchFamily="34" charset="0"/>
                <a:ea typeface="Inter Bold" pitchFamily="34" charset="-122"/>
                <a:cs typeface="Inter Bold" pitchFamily="34" charset="-120"/>
              </a:rPr>
              <a:t>deux ans d'exercice hors intérim</a:t>
            </a:r>
            <a:r>
              <a:rPr lang="en-US" sz="1450" kern="0" spc="-29">
                <a:solidFill>
                  <a:srgbClr val="272525"/>
                </a:solidFill>
                <a:latin typeface="Inter" pitchFamily="34" charset="0"/>
                <a:ea typeface="Inter" pitchFamily="34" charset="-122"/>
                <a:cs typeface="Inter" pitchFamily="34" charset="-120"/>
              </a:rPr>
              <a:t>, soit </a:t>
            </a:r>
            <a:r>
              <a:rPr lang="en-US" sz="1450" b="1" kern="0" spc="-29">
                <a:solidFill>
                  <a:srgbClr val="272525"/>
                </a:solidFill>
                <a:latin typeface="Inter Bold" pitchFamily="34" charset="0"/>
                <a:ea typeface="Inter Bold" pitchFamily="34" charset="-122"/>
                <a:cs typeface="Inter Bold" pitchFamily="34" charset="-120"/>
              </a:rPr>
              <a:t>3 214 heures</a:t>
            </a:r>
            <a:r>
              <a:rPr lang="en-US" sz="1450" kern="0" spc="-29">
                <a:solidFill>
                  <a:srgbClr val="272525"/>
                </a:solidFill>
                <a:latin typeface="Inter" pitchFamily="34" charset="0"/>
                <a:ea typeface="Inter" pitchFamily="34" charset="-122"/>
                <a:cs typeface="Inter" pitchFamily="34" charset="-120"/>
              </a:rPr>
              <a:t>, avant une première mission d'intérim. L'aide-soignant figure explicitement parmi les professions visées.</a:t>
            </a:r>
            <a:endParaRPr lang="en-US" sz="1450"/>
          </a:p>
          <a:p>
            <a:pPr marL="0" indent="0" algn="l">
              <a:lnSpc>
                <a:spcPct val="132000"/>
              </a:lnSpc>
              <a:buNone/>
            </a:pPr>
            <a:r>
              <a:rPr lang="en-US" sz="1450" kern="0" spc="-29">
                <a:solidFill>
                  <a:srgbClr val="272525"/>
                </a:solidFill>
                <a:latin typeface="Inter" pitchFamily="34" charset="0"/>
                <a:ea typeface="Inter" pitchFamily="34" charset="-122"/>
                <a:cs typeface="Inter" pitchFamily="34" charset="-120"/>
              </a:rPr>
              <a:t>Le décret du 24 juin 2024 place l'obligation de vérification sur l'entreprise de travail temporaire.</a:t>
            </a:r>
            <a:endParaRPr lang="en-US" sz="1450"/>
          </a:p>
        </p:txBody>
      </p:sp>
      <p:sp>
        <p:nvSpPr>
          <p:cNvPr id="6" name="Shape 3"/>
          <p:cNvSpPr/>
          <p:nvPr/>
        </p:nvSpPr>
        <p:spPr>
          <a:xfrm>
            <a:off x="8027489" y="4794945"/>
            <a:ext cx="3509081" cy="1308298"/>
          </a:xfrm>
          <a:prstGeom prst="roundRect">
            <a:avLst>
              <a:gd name="adj" fmla="val 5973"/>
            </a:avLst>
          </a:prstGeom>
          <a:solidFill>
            <a:srgbClr val="DADBF1"/>
          </a:solidFill>
          <a:ln/>
        </p:spPr>
        <p:txBody>
          <a:bodyPr/>
          <a:lstStyle/>
          <a:p>
            <a:endParaRPr lang="fr-FR"/>
          </a:p>
        </p:txBody>
      </p:sp>
      <p:pic>
        <p:nvPicPr>
          <p:cNvPr id="7" name="Image 1" descr="preencoded.png"/>
          <p:cNvPicPr>
            <a:picLocks noChangeAspect="1"/>
          </p:cNvPicPr>
          <p:nvPr/>
        </p:nvPicPr>
        <p:blipFill>
          <a:blip r:embed="rId4"/>
          <a:stretch>
            <a:fillRect/>
          </a:stretch>
        </p:blipFill>
        <p:spPr>
          <a:xfrm>
            <a:off x="8213520" y="5071269"/>
            <a:ext cx="232563" cy="186035"/>
          </a:xfrm>
          <a:prstGeom prst="rect">
            <a:avLst/>
          </a:prstGeom>
        </p:spPr>
      </p:pic>
      <p:sp>
        <p:nvSpPr>
          <p:cNvPr id="8" name="Text 4"/>
          <p:cNvSpPr/>
          <p:nvPr/>
        </p:nvSpPr>
        <p:spPr>
          <a:xfrm>
            <a:off x="8632113" y="5006181"/>
            <a:ext cx="2718427" cy="885825"/>
          </a:xfrm>
          <a:prstGeom prst="rect">
            <a:avLst/>
          </a:prstGeom>
          <a:noFill/>
          <a:ln/>
        </p:spPr>
        <p:txBody>
          <a:bodyPr wrap="square" lIns="0" tIns="0" rIns="0" bIns="0" rtlCol="0" anchor="t">
            <a:normAutofit/>
          </a:bodyPr>
          <a:lstStyle/>
          <a:p>
            <a:pPr marL="0" indent="0" algn="l">
              <a:lnSpc>
                <a:spcPct val="132000"/>
              </a:lnSpc>
              <a:buNone/>
            </a:pPr>
            <a:r>
              <a:rPr lang="en-US" sz="1450" kern="0" spc="-29">
                <a:solidFill>
                  <a:srgbClr val="000000"/>
                </a:solidFill>
                <a:latin typeface="Inter" pitchFamily="34" charset="0"/>
                <a:ea typeface="Inter" pitchFamily="34" charset="-122"/>
                <a:cs typeface="Inter" pitchFamily="34" charset="-120"/>
              </a:rPr>
              <a:t>Autrement dit, sur nous. Nous en avons fait une fonctionnalité plutôt qu'une formalité.</a:t>
            </a:r>
            <a:endParaRPr lang="en-US" sz="14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61475" y="1316236"/>
            <a:ext cx="10868745"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Le marché n'est pas vide</a:t>
            </a:r>
            <a:endParaRPr lang="en-US" sz="370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284909"/>
            <a:ext cx="3496877" cy="3256855"/>
          </a:xfrm>
          <a:prstGeom prst="rect">
            <a:avLst/>
          </a:prstGeom>
        </p:spPr>
      </p:pic>
      <p:sp>
        <p:nvSpPr>
          <p:cNvPr id="4" name="Text 1"/>
          <p:cNvSpPr/>
          <p:nvPr/>
        </p:nvSpPr>
        <p:spPr>
          <a:xfrm>
            <a:off x="977479" y="2499320"/>
            <a:ext cx="2966467"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Hublo</a:t>
            </a:r>
            <a:endParaRPr lang="en-US" sz="1850"/>
          </a:p>
        </p:txBody>
      </p:sp>
      <p:sp>
        <p:nvSpPr>
          <p:cNvPr id="5" name="Text 2"/>
          <p:cNvSpPr/>
          <p:nvPr/>
        </p:nvSpPr>
        <p:spPr>
          <a:xfrm>
            <a:off x="977479" y="2908002"/>
            <a:ext cx="2966467" cy="2419350"/>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La référence du remplacement en établissement. Son modèle repose sur un abonnement, et l'établissement embauche lui-même. Il suppose donc un vivier déjà constitué, et laisse la vérification légale à la charge de l'établissement.</a:t>
            </a:r>
            <a:endParaRPr lang="en-US" sz="145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2284909"/>
            <a:ext cx="3496877" cy="3256855"/>
          </a:xfrm>
          <a:prstGeom prst="rect">
            <a:avLst/>
          </a:prstGeom>
        </p:spPr>
      </p:pic>
      <p:sp>
        <p:nvSpPr>
          <p:cNvPr id="7" name="Text 3"/>
          <p:cNvSpPr/>
          <p:nvPr/>
        </p:nvSpPr>
        <p:spPr>
          <a:xfrm>
            <a:off x="4663363" y="2499320"/>
            <a:ext cx="2966467"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Mediflash</a:t>
            </a:r>
            <a:endParaRPr lang="en-US" sz="1850"/>
          </a:p>
        </p:txBody>
      </p:sp>
      <p:sp>
        <p:nvSpPr>
          <p:cNvPr id="8" name="Text 4"/>
          <p:cNvSpPr/>
          <p:nvPr/>
        </p:nvSpPr>
        <p:spPr>
          <a:xfrm>
            <a:off x="4663363" y="2908002"/>
            <a:ext cx="2966467" cy="1814513"/>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S'appuie sur le statut d'auto-entrepreneur. Le Conseil d'État a rejeté son recours le 11 février 2025 et confirmé que ce statut est incompatible avec l'exercice d'aide-soignant en établissement.</a:t>
            </a:r>
            <a:endParaRPr lang="en-US" sz="145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2284909"/>
            <a:ext cx="3496877" cy="3256855"/>
          </a:xfrm>
          <a:prstGeom prst="rect">
            <a:avLst/>
          </a:prstGeom>
        </p:spPr>
      </p:pic>
      <p:sp>
        <p:nvSpPr>
          <p:cNvPr id="10" name="Text 5"/>
          <p:cNvSpPr/>
          <p:nvPr/>
        </p:nvSpPr>
        <p:spPr>
          <a:xfrm>
            <a:off x="8349247" y="2499320"/>
            <a:ext cx="2966467"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Notre choix</a:t>
            </a:r>
            <a:endParaRPr lang="en-US" sz="1850"/>
          </a:p>
        </p:txBody>
      </p:sp>
      <p:sp>
        <p:nvSpPr>
          <p:cNvPr id="11" name="Text 6"/>
          <p:cNvSpPr/>
          <p:nvPr/>
        </p:nvSpPr>
        <p:spPr>
          <a:xfrm>
            <a:off x="8349247" y="2908002"/>
            <a:ext cx="2966467" cy="907256"/>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Nous avons écarté le modèle auto-entrepreneur, plus rentable mais juridiquement intenable.</a:t>
            </a:r>
            <a:endParaRPr lang="en-US" sz="14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1916906"/>
            <a:ext cx="6296860"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Notre proposition de valeur</a:t>
            </a:r>
            <a:endParaRPr lang="en-US" sz="3700"/>
          </a:p>
        </p:txBody>
      </p:sp>
      <p:sp>
        <p:nvSpPr>
          <p:cNvPr id="4" name="Text 1"/>
          <p:cNvSpPr/>
          <p:nvPr/>
        </p:nvSpPr>
        <p:spPr>
          <a:xfrm>
            <a:off x="944936" y="3003649"/>
            <a:ext cx="6013399" cy="907256"/>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Relève apporte aux EHPAD, aux cliniques et aux hôpitaux le vivier d'aides-soignants remplaçants, déjà vérifiés, qu'ils n'ont pas les moyens de constituer.</a:t>
            </a:r>
            <a:endParaRPr lang="en-US" sz="1450"/>
          </a:p>
        </p:txBody>
      </p:sp>
      <p:sp>
        <p:nvSpPr>
          <p:cNvPr id="5" name="Shape 2"/>
          <p:cNvSpPr/>
          <p:nvPr/>
        </p:nvSpPr>
        <p:spPr>
          <a:xfrm>
            <a:off x="661475" y="2791023"/>
            <a:ext cx="25399" cy="1332508"/>
          </a:xfrm>
          <a:prstGeom prst="roundRect">
            <a:avLst>
              <a:gd name="adj" fmla="val 50001"/>
            </a:avLst>
          </a:prstGeom>
          <a:solidFill>
            <a:srgbClr val="4950BC"/>
          </a:solidFill>
          <a:ln/>
        </p:spPr>
        <p:txBody>
          <a:bodyPr/>
          <a:lstStyle/>
          <a:p>
            <a:endParaRPr lang="fr-FR"/>
          </a:p>
        </p:txBody>
      </p:sp>
      <p:sp>
        <p:nvSpPr>
          <p:cNvPr id="6" name="Text 3"/>
          <p:cNvSpPr/>
          <p:nvPr/>
        </p:nvSpPr>
        <p:spPr>
          <a:xfrm>
            <a:off x="661475" y="4336157"/>
            <a:ext cx="6296860"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Une agence d'intérim numérique, avec un vrai contrat de mission et un contrôle d'éligibilité fait en amont.</a:t>
            </a:r>
            <a:endParaRPr lang="en-US" sz="14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560784"/>
            <a:ext cx="10868745"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Le produit en quatre étapes</a:t>
            </a:r>
            <a:endParaRPr lang="en-US" sz="3700"/>
          </a:p>
        </p:txBody>
      </p:sp>
      <p:pic>
        <p:nvPicPr>
          <p:cNvPr id="3" name="Image 0" descr="preencoded.png"/>
          <p:cNvPicPr>
            <a:picLocks noChangeAspect="1"/>
          </p:cNvPicPr>
          <p:nvPr/>
        </p:nvPicPr>
        <p:blipFill>
          <a:blip r:embed="rId3"/>
          <a:stretch>
            <a:fillRect/>
          </a:stretch>
        </p:blipFill>
        <p:spPr>
          <a:xfrm>
            <a:off x="672361" y="1551229"/>
            <a:ext cx="10868745" cy="4767759"/>
          </a:xfrm>
          <a:prstGeom prst="rect">
            <a:avLst/>
          </a:prstGeom>
        </p:spPr>
      </p:pic>
      <p:sp>
        <p:nvSpPr>
          <p:cNvPr id="4" name="Text 1"/>
          <p:cNvSpPr/>
          <p:nvPr/>
        </p:nvSpPr>
        <p:spPr>
          <a:xfrm>
            <a:off x="3955303" y="5020836"/>
            <a:ext cx="1642671" cy="294129"/>
          </a:xfrm>
          <a:prstGeom prst="rect">
            <a:avLst/>
          </a:prstGeom>
          <a:noFill/>
          <a:ln/>
        </p:spPr>
        <p:txBody>
          <a:bodyPr wrap="none" lIns="0" tIns="0" rIns="0" bIns="0" rtlCol="0" anchor="t"/>
          <a:lstStyle/>
          <a:p>
            <a:pPr marL="0" indent="0" algn="ctr">
              <a:lnSpc>
                <a:spcPct val="104000"/>
              </a:lnSpc>
              <a:buNone/>
            </a:pPr>
            <a:r>
              <a:rPr lang="en-US" sz="1850" b="1" kern="0" spc="-56">
                <a:solidFill>
                  <a:srgbClr val="000000"/>
                </a:solidFill>
                <a:latin typeface="Inter Bold" pitchFamily="34" charset="0"/>
                <a:ea typeface="Inter Bold" pitchFamily="34" charset="-122"/>
                <a:cs typeface="Inter Bold" pitchFamily="34" charset="-120"/>
              </a:rPr>
              <a:t>Filtrage</a:t>
            </a:r>
            <a:endParaRPr lang="en-US" sz="1850"/>
          </a:p>
        </p:txBody>
      </p:sp>
      <p:sp>
        <p:nvSpPr>
          <p:cNvPr id="5" name="Text 2"/>
          <p:cNvSpPr/>
          <p:nvPr/>
        </p:nvSpPr>
        <p:spPr>
          <a:xfrm>
            <a:off x="3955303" y="5398629"/>
            <a:ext cx="1642671" cy="470607"/>
          </a:xfrm>
          <a:prstGeom prst="rect">
            <a:avLst/>
          </a:prstGeom>
          <a:noFill/>
          <a:ln/>
        </p:spPr>
        <p:txBody>
          <a:bodyPr wrap="square" lIns="0" tIns="0" rIns="0" bIns="0" rtlCol="0" anchor="t">
            <a:normAutofit/>
          </a:bodyPr>
          <a:lstStyle/>
          <a:p>
            <a:pPr marL="0" indent="0" algn="ctr">
              <a:lnSpc>
                <a:spcPct val="104000"/>
              </a:lnSpc>
              <a:buNone/>
            </a:pPr>
            <a:r>
              <a:rPr lang="en-US" sz="1450" kern="0" spc="-49">
                <a:solidFill>
                  <a:srgbClr val="272525"/>
                </a:solidFill>
                <a:latin typeface="Inter" pitchFamily="34" charset="0"/>
                <a:ea typeface="Inter" pitchFamily="34" charset="-122"/>
                <a:cs typeface="Inter" pitchFamily="34" charset="-120"/>
              </a:rPr>
              <a:t>Plateforme filtre et calcule un score</a:t>
            </a:r>
            <a:endParaRPr lang="en-US" sz="1450"/>
          </a:p>
        </p:txBody>
      </p:sp>
      <p:sp>
        <p:nvSpPr>
          <p:cNvPr id="6" name="Text 3"/>
          <p:cNvSpPr/>
          <p:nvPr/>
        </p:nvSpPr>
        <p:spPr>
          <a:xfrm>
            <a:off x="9173680" y="4785533"/>
            <a:ext cx="1642670" cy="294129"/>
          </a:xfrm>
          <a:prstGeom prst="rect">
            <a:avLst/>
          </a:prstGeom>
          <a:noFill/>
          <a:ln/>
        </p:spPr>
        <p:txBody>
          <a:bodyPr wrap="none" lIns="0" tIns="0" rIns="0" bIns="0" rtlCol="0" anchor="t"/>
          <a:lstStyle/>
          <a:p>
            <a:pPr marL="0" indent="0" algn="ctr">
              <a:lnSpc>
                <a:spcPct val="104000"/>
              </a:lnSpc>
              <a:buNone/>
            </a:pPr>
            <a:r>
              <a:rPr lang="en-US" sz="1850" b="1" kern="0" spc="-56">
                <a:solidFill>
                  <a:srgbClr val="000000"/>
                </a:solidFill>
                <a:latin typeface="Inter Bold" pitchFamily="34" charset="0"/>
                <a:ea typeface="Inter Bold" pitchFamily="34" charset="-122"/>
                <a:cs typeface="Inter Bold" pitchFamily="34" charset="-120"/>
              </a:rPr>
              <a:t>Validation</a:t>
            </a:r>
            <a:endParaRPr lang="en-US" sz="1850"/>
          </a:p>
        </p:txBody>
      </p:sp>
      <p:sp>
        <p:nvSpPr>
          <p:cNvPr id="7" name="Text 4"/>
          <p:cNvSpPr/>
          <p:nvPr/>
        </p:nvSpPr>
        <p:spPr>
          <a:xfrm>
            <a:off x="9173680" y="5163326"/>
            <a:ext cx="1642670" cy="705910"/>
          </a:xfrm>
          <a:prstGeom prst="rect">
            <a:avLst/>
          </a:prstGeom>
          <a:noFill/>
          <a:ln/>
        </p:spPr>
        <p:txBody>
          <a:bodyPr wrap="square" lIns="0" tIns="0" rIns="0" bIns="0" rtlCol="0" anchor="t">
            <a:normAutofit/>
          </a:bodyPr>
          <a:lstStyle/>
          <a:p>
            <a:pPr marL="0" indent="0" algn="ctr">
              <a:lnSpc>
                <a:spcPct val="104000"/>
              </a:lnSpc>
              <a:buNone/>
            </a:pPr>
            <a:r>
              <a:rPr lang="en-US" sz="1450" kern="0" spc="-49">
                <a:solidFill>
                  <a:srgbClr val="272525"/>
                </a:solidFill>
                <a:latin typeface="Inter" pitchFamily="34" charset="0"/>
                <a:ea typeface="Inter" pitchFamily="34" charset="-122"/>
                <a:cs typeface="Inter" pitchFamily="34" charset="-120"/>
              </a:rPr>
              <a:t>L'établissement valide et clôt le besoin</a:t>
            </a:r>
            <a:endParaRPr lang="en-US" sz="1450"/>
          </a:p>
        </p:txBody>
      </p:sp>
      <p:sp>
        <p:nvSpPr>
          <p:cNvPr id="8" name="Text 5"/>
          <p:cNvSpPr/>
          <p:nvPr/>
        </p:nvSpPr>
        <p:spPr>
          <a:xfrm>
            <a:off x="1403632" y="1957970"/>
            <a:ext cx="1642671" cy="294129"/>
          </a:xfrm>
          <a:prstGeom prst="rect">
            <a:avLst/>
          </a:prstGeom>
          <a:noFill/>
          <a:ln/>
        </p:spPr>
        <p:txBody>
          <a:bodyPr wrap="none" lIns="0" tIns="0" rIns="0" bIns="0" rtlCol="0" anchor="t"/>
          <a:lstStyle/>
          <a:p>
            <a:pPr marL="0" indent="0" algn="ctr">
              <a:lnSpc>
                <a:spcPct val="104000"/>
              </a:lnSpc>
              <a:buNone/>
            </a:pPr>
            <a:r>
              <a:rPr lang="en-US" sz="1850" b="1" kern="0" spc="-56">
                <a:solidFill>
                  <a:srgbClr val="000000"/>
                </a:solidFill>
                <a:latin typeface="Inter Bold" pitchFamily="34" charset="0"/>
                <a:ea typeface="Inter Bold" pitchFamily="34" charset="-122"/>
                <a:cs typeface="Inter Bold" pitchFamily="34" charset="-120"/>
              </a:rPr>
              <a:t>Publication</a:t>
            </a:r>
            <a:endParaRPr lang="en-US" sz="1850"/>
          </a:p>
        </p:txBody>
      </p:sp>
      <p:sp>
        <p:nvSpPr>
          <p:cNvPr id="9" name="Text 6"/>
          <p:cNvSpPr/>
          <p:nvPr/>
        </p:nvSpPr>
        <p:spPr>
          <a:xfrm>
            <a:off x="1403632" y="2335763"/>
            <a:ext cx="1642671" cy="470607"/>
          </a:xfrm>
          <a:prstGeom prst="rect">
            <a:avLst/>
          </a:prstGeom>
          <a:noFill/>
          <a:ln/>
        </p:spPr>
        <p:txBody>
          <a:bodyPr wrap="square" lIns="0" tIns="0" rIns="0" bIns="0" rtlCol="0" anchor="t">
            <a:normAutofit/>
          </a:bodyPr>
          <a:lstStyle/>
          <a:p>
            <a:pPr marL="0" indent="0" algn="ctr">
              <a:lnSpc>
                <a:spcPct val="104000"/>
              </a:lnSpc>
              <a:buNone/>
            </a:pPr>
            <a:r>
              <a:rPr lang="en-US" sz="1450" kern="0" spc="-49">
                <a:solidFill>
                  <a:srgbClr val="272525"/>
                </a:solidFill>
                <a:latin typeface="Inter" pitchFamily="34" charset="0"/>
                <a:ea typeface="Inter" pitchFamily="34" charset="-122"/>
                <a:cs typeface="Inter" pitchFamily="34" charset="-120"/>
              </a:rPr>
              <a:t>L'établissement publie le besoin</a:t>
            </a:r>
            <a:endParaRPr lang="en-US" sz="1450"/>
          </a:p>
        </p:txBody>
      </p:sp>
      <p:sp>
        <p:nvSpPr>
          <p:cNvPr id="10" name="Text 7"/>
          <p:cNvSpPr/>
          <p:nvPr/>
        </p:nvSpPr>
        <p:spPr>
          <a:xfrm>
            <a:off x="6601093" y="1957970"/>
            <a:ext cx="1642670" cy="294129"/>
          </a:xfrm>
          <a:prstGeom prst="rect">
            <a:avLst/>
          </a:prstGeom>
          <a:noFill/>
          <a:ln/>
        </p:spPr>
        <p:txBody>
          <a:bodyPr wrap="none" lIns="0" tIns="0" rIns="0" bIns="0" rtlCol="0" anchor="t"/>
          <a:lstStyle/>
          <a:p>
            <a:pPr marL="0" indent="0" algn="ctr">
              <a:lnSpc>
                <a:spcPct val="104000"/>
              </a:lnSpc>
              <a:buNone/>
            </a:pPr>
            <a:r>
              <a:rPr lang="en-US" sz="1850" b="1" kern="0" spc="-56">
                <a:solidFill>
                  <a:srgbClr val="000000"/>
                </a:solidFill>
                <a:latin typeface="Inter Bold" pitchFamily="34" charset="0"/>
                <a:ea typeface="Inter Bold" pitchFamily="34" charset="-122"/>
                <a:cs typeface="Inter Bold" pitchFamily="34" charset="-120"/>
              </a:rPr>
              <a:t>Notification</a:t>
            </a:r>
            <a:endParaRPr lang="en-US" sz="1850"/>
          </a:p>
        </p:txBody>
      </p:sp>
      <p:sp>
        <p:nvSpPr>
          <p:cNvPr id="11" name="Text 8"/>
          <p:cNvSpPr/>
          <p:nvPr/>
        </p:nvSpPr>
        <p:spPr>
          <a:xfrm>
            <a:off x="6601093" y="2335763"/>
            <a:ext cx="1642670" cy="470607"/>
          </a:xfrm>
          <a:prstGeom prst="rect">
            <a:avLst/>
          </a:prstGeom>
          <a:noFill/>
          <a:ln/>
        </p:spPr>
        <p:txBody>
          <a:bodyPr wrap="square" lIns="0" tIns="0" rIns="0" bIns="0" rtlCol="0" anchor="t">
            <a:normAutofit/>
          </a:bodyPr>
          <a:lstStyle/>
          <a:p>
            <a:pPr marL="0" indent="0" algn="ctr">
              <a:lnSpc>
                <a:spcPct val="104000"/>
              </a:lnSpc>
              <a:buNone/>
            </a:pPr>
            <a:r>
              <a:rPr lang="en-US" sz="1450" kern="0" spc="-49">
                <a:solidFill>
                  <a:srgbClr val="272525"/>
                </a:solidFill>
                <a:latin typeface="Inter" pitchFamily="34" charset="0"/>
                <a:ea typeface="Inter" pitchFamily="34" charset="-122"/>
                <a:cs typeface="Inter" pitchFamily="34" charset="-120"/>
              </a:rPr>
              <a:t>Les meilleurs profils sont notifiés</a:t>
            </a:r>
            <a:endParaRPr lang="en-US" sz="14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61475" y="1792486"/>
            <a:ext cx="10868745"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Trois partis pris</a:t>
            </a:r>
            <a:endParaRPr lang="en-US" sz="3700"/>
          </a:p>
        </p:txBody>
      </p:sp>
      <p:sp>
        <p:nvSpPr>
          <p:cNvPr id="3" name="Shape 1"/>
          <p:cNvSpPr/>
          <p:nvPr/>
        </p:nvSpPr>
        <p:spPr>
          <a:xfrm>
            <a:off x="661475" y="2761159"/>
            <a:ext cx="3496877" cy="2304355"/>
          </a:xfrm>
          <a:prstGeom prst="roundRect">
            <a:avLst>
              <a:gd name="adj" fmla="val 3445"/>
            </a:avLst>
          </a:prstGeom>
          <a:solidFill>
            <a:srgbClr val="DADBF1"/>
          </a:solidFill>
          <a:ln w="6350">
            <a:solidFill>
              <a:srgbClr val="C0C1D7"/>
            </a:solidFill>
            <a:prstDash val="solid"/>
          </a:ln>
        </p:spPr>
        <p:txBody>
          <a:bodyPr/>
          <a:lstStyle/>
          <a:p>
            <a:endParaRPr lang="fr-FR"/>
          </a:p>
        </p:txBody>
      </p:sp>
      <p:sp>
        <p:nvSpPr>
          <p:cNvPr id="4" name="Text 2"/>
          <p:cNvSpPr/>
          <p:nvPr/>
        </p:nvSpPr>
        <p:spPr>
          <a:xfrm>
            <a:off x="856832" y="2956520"/>
            <a:ext cx="3106164"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Nous apportons le vivier</a:t>
            </a:r>
            <a:endParaRPr lang="en-US" sz="1850"/>
          </a:p>
        </p:txBody>
      </p:sp>
      <p:sp>
        <p:nvSpPr>
          <p:cNvPr id="5" name="Text 3"/>
          <p:cNvSpPr/>
          <p:nvPr/>
        </p:nvSpPr>
        <p:spPr>
          <a:xfrm>
            <a:off x="856832" y="3365202"/>
            <a:ext cx="3106164" cy="907256"/>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L'établissement ne recrute pas, ne constitue rien, et ne paie rien tant qu'aucune mission n'est passée.</a:t>
            </a:r>
            <a:endParaRPr lang="en-US" sz="1450"/>
          </a:p>
        </p:txBody>
      </p:sp>
      <p:sp>
        <p:nvSpPr>
          <p:cNvPr id="6" name="Shape 4"/>
          <p:cNvSpPr/>
          <p:nvPr/>
        </p:nvSpPr>
        <p:spPr>
          <a:xfrm>
            <a:off x="4347359" y="2761159"/>
            <a:ext cx="3496877" cy="2304355"/>
          </a:xfrm>
          <a:prstGeom prst="roundRect">
            <a:avLst>
              <a:gd name="adj" fmla="val 3445"/>
            </a:avLst>
          </a:prstGeom>
          <a:solidFill>
            <a:srgbClr val="DADBF1"/>
          </a:solidFill>
          <a:ln w="6350">
            <a:solidFill>
              <a:srgbClr val="C0C1D7"/>
            </a:solidFill>
            <a:prstDash val="solid"/>
          </a:ln>
        </p:spPr>
        <p:txBody>
          <a:bodyPr/>
          <a:lstStyle/>
          <a:p>
            <a:endParaRPr lang="fr-FR"/>
          </a:p>
        </p:txBody>
      </p:sp>
      <p:sp>
        <p:nvSpPr>
          <p:cNvPr id="7" name="Text 5"/>
          <p:cNvSpPr/>
          <p:nvPr/>
        </p:nvSpPr>
        <p:spPr>
          <a:xfrm>
            <a:off x="4542716" y="2956520"/>
            <a:ext cx="3106164" cy="590550"/>
          </a:xfrm>
          <a:prstGeom prst="rect">
            <a:avLst/>
          </a:prstGeom>
          <a:noFill/>
          <a:ln/>
        </p:spPr>
        <p:txBody>
          <a:bodyPr wrap="square" lIns="0" tIns="0" rIns="0" bIns="0" rtlCol="0" anchor="t">
            <a:normAutofit/>
          </a:bodyPr>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Le contrôle légal est automatique</a:t>
            </a:r>
            <a:endParaRPr lang="en-US" sz="1850"/>
          </a:p>
        </p:txBody>
      </p:sp>
      <p:sp>
        <p:nvSpPr>
          <p:cNvPr id="8" name="Text 6"/>
          <p:cNvSpPr/>
          <p:nvPr/>
        </p:nvSpPr>
        <p:spPr>
          <a:xfrm>
            <a:off x="4542716" y="3660477"/>
            <a:ext cx="3106164" cy="1209675"/>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Un profil qui n'a pas ses 3 214 heures n'apparaît jamais dans une proposition, et il sait combien d'heures il lui manque.</a:t>
            </a:r>
            <a:endParaRPr lang="en-US" sz="1450"/>
          </a:p>
        </p:txBody>
      </p:sp>
      <p:sp>
        <p:nvSpPr>
          <p:cNvPr id="9" name="Shape 7"/>
          <p:cNvSpPr/>
          <p:nvPr/>
        </p:nvSpPr>
        <p:spPr>
          <a:xfrm>
            <a:off x="8033244" y="2761159"/>
            <a:ext cx="3496877" cy="2304355"/>
          </a:xfrm>
          <a:prstGeom prst="roundRect">
            <a:avLst>
              <a:gd name="adj" fmla="val 3445"/>
            </a:avLst>
          </a:prstGeom>
          <a:solidFill>
            <a:srgbClr val="DADBF1"/>
          </a:solidFill>
          <a:ln w="6350">
            <a:solidFill>
              <a:srgbClr val="C0C1D7"/>
            </a:solidFill>
            <a:prstDash val="solid"/>
          </a:ln>
        </p:spPr>
        <p:txBody>
          <a:bodyPr/>
          <a:lstStyle/>
          <a:p>
            <a:endParaRPr lang="fr-FR"/>
          </a:p>
        </p:txBody>
      </p:sp>
      <p:sp>
        <p:nvSpPr>
          <p:cNvPr id="10" name="Text 8"/>
          <p:cNvSpPr/>
          <p:nvPr/>
        </p:nvSpPr>
        <p:spPr>
          <a:xfrm>
            <a:off x="8228600" y="2956520"/>
            <a:ext cx="3106164" cy="590550"/>
          </a:xfrm>
          <a:prstGeom prst="rect">
            <a:avLst/>
          </a:prstGeom>
          <a:noFill/>
          <a:ln/>
        </p:spPr>
        <p:txBody>
          <a:bodyPr wrap="square" lIns="0" tIns="0" rIns="0" bIns="0" rtlCol="0" anchor="t">
            <a:normAutofit/>
          </a:bodyPr>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Nos décisions sont explicables</a:t>
            </a:r>
            <a:endParaRPr lang="en-US" sz="1850"/>
          </a:p>
        </p:txBody>
      </p:sp>
      <p:sp>
        <p:nvSpPr>
          <p:cNvPr id="11" name="Text 9"/>
          <p:cNvSpPr/>
          <p:nvPr/>
        </p:nvSpPr>
        <p:spPr>
          <a:xfrm>
            <a:off x="8228600" y="3660477"/>
            <a:ext cx="3106164" cy="1209675"/>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Chaque exécution du matching est journalisée : qui a été écarté, par quel filtre, et le détail du score des profils retenus.</a:t>
            </a:r>
            <a:endParaRPr lang="en-US" sz="14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661475" y="545306"/>
            <a:ext cx="10868745" cy="489148"/>
          </a:xfrm>
          <a:prstGeom prst="rect">
            <a:avLst/>
          </a:prstGeom>
          <a:noFill/>
          <a:ln/>
        </p:spPr>
        <p:txBody>
          <a:bodyPr wrap="none" lIns="0" tIns="0" rIns="0" bIns="0" rtlCol="0" anchor="t"/>
          <a:lstStyle/>
          <a:p>
            <a:pPr marL="0" indent="0" algn="l">
              <a:lnSpc>
                <a:spcPct val="104000"/>
              </a:lnSpc>
              <a:buNone/>
            </a:pPr>
            <a:r>
              <a:rPr lang="en-US" sz="3050" b="1" kern="0" spc="-92">
                <a:solidFill>
                  <a:srgbClr val="000000"/>
                </a:solidFill>
                <a:latin typeface="Inter Bold" pitchFamily="34" charset="0"/>
                <a:ea typeface="Inter Bold" pitchFamily="34" charset="-122"/>
                <a:cs typeface="Inter Bold" pitchFamily="34" charset="-120"/>
              </a:rPr>
              <a:t>L'architecture</a:t>
            </a:r>
            <a:endParaRPr lang="en-US" sz="3050"/>
          </a:p>
        </p:txBody>
      </p:sp>
      <p:pic>
        <p:nvPicPr>
          <p:cNvPr id="3" name="Image 0" descr="preencoded.png"/>
          <p:cNvPicPr>
            <a:picLocks noChangeAspect="1"/>
          </p:cNvPicPr>
          <p:nvPr/>
        </p:nvPicPr>
        <p:blipFill>
          <a:blip r:embed="rId3"/>
          <a:stretch>
            <a:fillRect/>
          </a:stretch>
        </p:blipFill>
        <p:spPr>
          <a:xfrm>
            <a:off x="661475" y="1806873"/>
            <a:ext cx="6931050" cy="3927673"/>
          </a:xfrm>
          <a:prstGeom prst="rect">
            <a:avLst/>
          </a:prstGeom>
        </p:spPr>
      </p:pic>
      <p:pic>
        <p:nvPicPr>
          <p:cNvPr id="4"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1609" y="1355527"/>
            <a:ext cx="3574861" cy="1098947"/>
          </a:xfrm>
          <a:prstGeom prst="rect">
            <a:avLst/>
          </a:prstGeom>
        </p:spPr>
      </p:pic>
      <p:sp>
        <p:nvSpPr>
          <p:cNvPr id="5" name="Text 1"/>
          <p:cNvSpPr/>
          <p:nvPr/>
        </p:nvSpPr>
        <p:spPr>
          <a:xfrm>
            <a:off x="8175222" y="1374577"/>
            <a:ext cx="3361249" cy="244574"/>
          </a:xfrm>
          <a:prstGeom prst="rect">
            <a:avLst/>
          </a:prstGeom>
          <a:noFill/>
          <a:ln/>
        </p:spPr>
        <p:txBody>
          <a:bodyPr wrap="none" lIns="0" tIns="0" rIns="0" bIns="0" rtlCol="0" anchor="t"/>
          <a:lstStyle/>
          <a:p>
            <a:pPr marL="0" indent="0" algn="l">
              <a:lnSpc>
                <a:spcPct val="104000"/>
              </a:lnSpc>
              <a:buNone/>
            </a:pPr>
            <a:r>
              <a:rPr lang="en-US" sz="1500" b="1" kern="0" spc="-46">
                <a:solidFill>
                  <a:srgbClr val="272525"/>
                </a:solidFill>
                <a:latin typeface="Inter Bold" pitchFamily="34" charset="0"/>
                <a:ea typeface="Inter Bold" pitchFamily="34" charset="-122"/>
                <a:cs typeface="Inter Bold" pitchFamily="34" charset="-120"/>
              </a:rPr>
              <a:t>Monorepo &amp; TypeScript</a:t>
            </a:r>
            <a:endParaRPr lang="en-US" sz="1500"/>
          </a:p>
        </p:txBody>
      </p:sp>
      <p:sp>
        <p:nvSpPr>
          <p:cNvPr id="6" name="Text 2"/>
          <p:cNvSpPr/>
          <p:nvPr/>
        </p:nvSpPr>
        <p:spPr>
          <a:xfrm>
            <a:off x="8175222" y="1748730"/>
            <a:ext cx="3361249" cy="686693"/>
          </a:xfrm>
          <a:prstGeom prst="rect">
            <a:avLst/>
          </a:prstGeom>
          <a:noFill/>
          <a:ln/>
        </p:spPr>
        <p:txBody>
          <a:bodyPr wrap="square" lIns="0" tIns="0" rIns="0" bIns="0" rtlCol="0" anchor="t">
            <a:normAutofit/>
          </a:bodyPr>
          <a:lstStyle/>
          <a:p>
            <a:pPr marL="0" indent="0" algn="l">
              <a:lnSpc>
                <a:spcPct val="122000"/>
              </a:lnSpc>
              <a:buNone/>
            </a:pPr>
            <a:r>
              <a:rPr lang="en-US" sz="1200" kern="0" spc="-25">
                <a:solidFill>
                  <a:srgbClr val="272525"/>
                </a:solidFill>
                <a:latin typeface="Inter" pitchFamily="34" charset="0"/>
                <a:ea typeface="Inter" pitchFamily="34" charset="-122"/>
                <a:cs typeface="Inter" pitchFamily="34" charset="-120"/>
              </a:rPr>
              <a:t>Monorepo pnpm en TypeScript strict de bout en bout, sur Node 22, avec trois paquets : le serveur, l'interface et les schémas partagés.</a:t>
            </a:r>
            <a:endParaRPr lang="en-US" sz="1200"/>
          </a:p>
        </p:txBody>
      </p:sp>
      <p:pic>
        <p:nvPicPr>
          <p:cNvPr id="7"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1609" y="2675632"/>
            <a:ext cx="3574861" cy="1098947"/>
          </a:xfrm>
          <a:prstGeom prst="rect">
            <a:avLst/>
          </a:prstGeom>
        </p:spPr>
      </p:pic>
      <p:sp>
        <p:nvSpPr>
          <p:cNvPr id="8" name="Text 3"/>
          <p:cNvSpPr/>
          <p:nvPr/>
        </p:nvSpPr>
        <p:spPr>
          <a:xfrm>
            <a:off x="8175222" y="2694682"/>
            <a:ext cx="3361249" cy="244574"/>
          </a:xfrm>
          <a:prstGeom prst="rect">
            <a:avLst/>
          </a:prstGeom>
          <a:noFill/>
          <a:ln/>
        </p:spPr>
        <p:txBody>
          <a:bodyPr wrap="none" lIns="0" tIns="0" rIns="0" bIns="0" rtlCol="0" anchor="t"/>
          <a:lstStyle/>
          <a:p>
            <a:pPr marL="0" indent="0" algn="l">
              <a:lnSpc>
                <a:spcPct val="104000"/>
              </a:lnSpc>
              <a:buNone/>
            </a:pPr>
            <a:r>
              <a:rPr lang="en-US" sz="1500" b="1" kern="0" spc="-46">
                <a:solidFill>
                  <a:srgbClr val="272525"/>
                </a:solidFill>
                <a:latin typeface="Inter Bold" pitchFamily="34" charset="0"/>
                <a:ea typeface="Inter Bold" pitchFamily="34" charset="-122"/>
                <a:cs typeface="Inter Bold" pitchFamily="34" charset="-120"/>
              </a:rPr>
              <a:t>Interface   Nuxt 4 &amp; Vue 3</a:t>
            </a:r>
            <a:endParaRPr lang="en-US" sz="1500"/>
          </a:p>
        </p:txBody>
      </p:sp>
      <p:sp>
        <p:nvSpPr>
          <p:cNvPr id="9" name="Text 4"/>
          <p:cNvSpPr/>
          <p:nvPr/>
        </p:nvSpPr>
        <p:spPr>
          <a:xfrm>
            <a:off x="8175222" y="3068836"/>
            <a:ext cx="3361249" cy="686693"/>
          </a:xfrm>
          <a:prstGeom prst="rect">
            <a:avLst/>
          </a:prstGeom>
          <a:noFill/>
          <a:ln/>
        </p:spPr>
        <p:txBody>
          <a:bodyPr wrap="square" lIns="0" tIns="0" rIns="0" bIns="0" rtlCol="0" anchor="t">
            <a:normAutofit/>
          </a:bodyPr>
          <a:lstStyle/>
          <a:p>
            <a:pPr marL="0" indent="0" algn="l">
              <a:lnSpc>
                <a:spcPct val="122000"/>
              </a:lnSpc>
              <a:buNone/>
            </a:pPr>
            <a:r>
              <a:rPr lang="en-US" sz="1200" kern="0" spc="-25">
                <a:solidFill>
                  <a:srgbClr val="272525"/>
                </a:solidFill>
                <a:latin typeface="Inter" pitchFamily="34" charset="0"/>
                <a:ea typeface="Inter" pitchFamily="34" charset="-122"/>
                <a:cs typeface="Inter" pitchFamily="34" charset="-120"/>
              </a:rPr>
              <a:t>Rendu côté serveur. Le navigateur ne parle jamais directement à l'API : un BFF intercale les appels et les cookies restent en httpOnly.</a:t>
            </a:r>
            <a:endParaRPr lang="en-US" sz="1200"/>
          </a:p>
        </p:txBody>
      </p:sp>
      <p:pic>
        <p:nvPicPr>
          <p:cNvPr id="10"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961609" y="3995737"/>
            <a:ext cx="3574861" cy="870049"/>
          </a:xfrm>
          <a:prstGeom prst="rect">
            <a:avLst/>
          </a:prstGeom>
        </p:spPr>
      </p:pic>
      <p:sp>
        <p:nvSpPr>
          <p:cNvPr id="11" name="Text 5"/>
          <p:cNvSpPr/>
          <p:nvPr/>
        </p:nvSpPr>
        <p:spPr>
          <a:xfrm>
            <a:off x="8175222" y="4014788"/>
            <a:ext cx="3361249" cy="244574"/>
          </a:xfrm>
          <a:prstGeom prst="rect">
            <a:avLst/>
          </a:prstGeom>
          <a:noFill/>
          <a:ln/>
        </p:spPr>
        <p:txBody>
          <a:bodyPr wrap="none" lIns="0" tIns="0" rIns="0" bIns="0" rtlCol="0" anchor="t"/>
          <a:lstStyle/>
          <a:p>
            <a:pPr marL="0" indent="0" algn="l">
              <a:lnSpc>
                <a:spcPct val="104000"/>
              </a:lnSpc>
              <a:buNone/>
            </a:pPr>
            <a:r>
              <a:rPr lang="en-US" sz="1500" b="1" kern="0" spc="-46">
                <a:solidFill>
                  <a:srgbClr val="272525"/>
                </a:solidFill>
                <a:latin typeface="Inter Bold" pitchFamily="34" charset="0"/>
                <a:ea typeface="Inter Bold" pitchFamily="34" charset="-122"/>
                <a:cs typeface="Inter Bold" pitchFamily="34" charset="-120"/>
              </a:rPr>
              <a:t>Serveur   NestJS 11</a:t>
            </a:r>
            <a:endParaRPr lang="en-US" sz="1500"/>
          </a:p>
        </p:txBody>
      </p:sp>
      <p:sp>
        <p:nvSpPr>
          <p:cNvPr id="12" name="Text 6"/>
          <p:cNvSpPr/>
          <p:nvPr/>
        </p:nvSpPr>
        <p:spPr>
          <a:xfrm>
            <a:off x="8175222" y="4388941"/>
            <a:ext cx="3361249" cy="457795"/>
          </a:xfrm>
          <a:prstGeom prst="rect">
            <a:avLst/>
          </a:prstGeom>
          <a:noFill/>
          <a:ln/>
        </p:spPr>
        <p:txBody>
          <a:bodyPr wrap="square" lIns="0" tIns="0" rIns="0" bIns="0" rtlCol="0" anchor="t">
            <a:normAutofit/>
          </a:bodyPr>
          <a:lstStyle/>
          <a:p>
            <a:pPr marL="0" indent="0" algn="l">
              <a:lnSpc>
                <a:spcPct val="122000"/>
              </a:lnSpc>
              <a:buNone/>
            </a:pPr>
            <a:r>
              <a:rPr lang="en-US" sz="1200" kern="0" spc="-25">
                <a:solidFill>
                  <a:srgbClr val="272525"/>
                </a:solidFill>
                <a:latin typeface="Inter" pitchFamily="34" charset="0"/>
                <a:ea typeface="Inter" pitchFamily="34" charset="-122"/>
                <a:cs typeface="Inter" pitchFamily="34" charset="-120"/>
              </a:rPr>
              <a:t>Prisma comme ORM, Zod pour la validation. Documentation d'API générée en OpenAPI.</a:t>
            </a:r>
            <a:endParaRPr lang="en-US" sz="1200"/>
          </a:p>
        </p:txBody>
      </p:sp>
      <p:pic>
        <p:nvPicPr>
          <p:cNvPr id="13"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961609" y="5086945"/>
            <a:ext cx="3574861" cy="1098947"/>
          </a:xfrm>
          <a:prstGeom prst="rect">
            <a:avLst/>
          </a:prstGeom>
        </p:spPr>
      </p:pic>
      <p:sp>
        <p:nvSpPr>
          <p:cNvPr id="14" name="Text 7"/>
          <p:cNvSpPr/>
          <p:nvPr/>
        </p:nvSpPr>
        <p:spPr>
          <a:xfrm>
            <a:off x="8175222" y="5105995"/>
            <a:ext cx="3361249" cy="244574"/>
          </a:xfrm>
          <a:prstGeom prst="rect">
            <a:avLst/>
          </a:prstGeom>
          <a:noFill/>
          <a:ln/>
        </p:spPr>
        <p:txBody>
          <a:bodyPr wrap="none" lIns="0" tIns="0" rIns="0" bIns="0" rtlCol="0" anchor="t"/>
          <a:lstStyle/>
          <a:p>
            <a:pPr marL="0" indent="0" algn="l">
              <a:lnSpc>
                <a:spcPct val="104000"/>
              </a:lnSpc>
              <a:buNone/>
            </a:pPr>
            <a:r>
              <a:rPr lang="en-US" sz="1500" b="1" kern="0" spc="-46">
                <a:solidFill>
                  <a:srgbClr val="272525"/>
                </a:solidFill>
                <a:latin typeface="Inter Bold" pitchFamily="34" charset="0"/>
                <a:ea typeface="Inter Bold" pitchFamily="34" charset="-122"/>
                <a:cs typeface="Inter Bold" pitchFamily="34" charset="-120"/>
              </a:rPr>
              <a:t>Base de données</a:t>
            </a:r>
            <a:endParaRPr lang="en-US" sz="1500"/>
          </a:p>
        </p:txBody>
      </p:sp>
      <p:sp>
        <p:nvSpPr>
          <p:cNvPr id="15" name="Text 8"/>
          <p:cNvSpPr/>
          <p:nvPr/>
        </p:nvSpPr>
        <p:spPr>
          <a:xfrm>
            <a:off x="8175222" y="5480149"/>
            <a:ext cx="3361249" cy="686693"/>
          </a:xfrm>
          <a:prstGeom prst="rect">
            <a:avLst/>
          </a:prstGeom>
          <a:noFill/>
          <a:ln/>
        </p:spPr>
        <p:txBody>
          <a:bodyPr wrap="square" lIns="0" tIns="0" rIns="0" bIns="0" rtlCol="0" anchor="t">
            <a:normAutofit/>
          </a:bodyPr>
          <a:lstStyle/>
          <a:p>
            <a:pPr marL="0" indent="0" algn="l">
              <a:lnSpc>
                <a:spcPct val="122000"/>
              </a:lnSpc>
              <a:buNone/>
            </a:pPr>
            <a:r>
              <a:rPr lang="en-US" sz="1200" kern="0" spc="-25">
                <a:solidFill>
                  <a:srgbClr val="272525"/>
                </a:solidFill>
                <a:latin typeface="Inter" pitchFamily="34" charset="0"/>
                <a:ea typeface="Inter" pitchFamily="34" charset="-122"/>
                <a:cs typeface="Inter" pitchFamily="34" charset="-120"/>
              </a:rPr>
              <a:t>PostgreSQL 16 avec PostGIS pour le matching géographique. Redis pour le cache et la limitation de débit.</a:t>
            </a:r>
            <a:endParaRPr lang="en-US" sz="12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661475" y="552450"/>
            <a:ext cx="10868745" cy="507603"/>
          </a:xfrm>
          <a:prstGeom prst="rect">
            <a:avLst/>
          </a:prstGeom>
          <a:noFill/>
          <a:ln/>
        </p:spPr>
        <p:txBody>
          <a:bodyPr wrap="none" lIns="0" tIns="0" rIns="0" bIns="0" rtlCol="0" anchor="t"/>
          <a:lstStyle/>
          <a:p>
            <a:pPr marL="0" indent="0" algn="l">
              <a:lnSpc>
                <a:spcPct val="104000"/>
              </a:lnSpc>
              <a:buNone/>
            </a:pPr>
            <a:r>
              <a:rPr lang="en-US" sz="3150" b="1" kern="0" spc="-96">
                <a:solidFill>
                  <a:srgbClr val="000000"/>
                </a:solidFill>
                <a:latin typeface="Inter Bold" pitchFamily="34" charset="0"/>
                <a:ea typeface="Inter Bold" pitchFamily="34" charset="-122"/>
                <a:cs typeface="Inter Bold" pitchFamily="34" charset="-120"/>
              </a:rPr>
              <a:t>Sécurité et données personnelles</a:t>
            </a:r>
            <a:endParaRPr lang="en-US" sz="3150"/>
          </a:p>
        </p:txBody>
      </p:sp>
      <p:sp>
        <p:nvSpPr>
          <p:cNvPr id="3" name="Shape 1"/>
          <p:cNvSpPr/>
          <p:nvPr/>
        </p:nvSpPr>
        <p:spPr>
          <a:xfrm>
            <a:off x="661475" y="1426369"/>
            <a:ext cx="3546485" cy="1481038"/>
          </a:xfrm>
          <a:prstGeom prst="roundRect">
            <a:avLst>
              <a:gd name="adj" fmla="val 4606"/>
            </a:avLst>
          </a:prstGeom>
          <a:solidFill>
            <a:srgbClr val="FFFFFF"/>
          </a:solidFill>
          <a:ln w="19050">
            <a:solidFill>
              <a:srgbClr val="C0C1D7"/>
            </a:solidFill>
            <a:prstDash val="solid"/>
          </a:ln>
        </p:spPr>
        <p:txBody>
          <a:bodyPr/>
          <a:lstStyle/>
          <a:p>
            <a:endParaRPr lang="fr-FR"/>
          </a:p>
        </p:txBody>
      </p:sp>
      <p:sp>
        <p:nvSpPr>
          <p:cNvPr id="4" name="Text 2"/>
          <p:cNvSpPr/>
          <p:nvPr/>
        </p:nvSpPr>
        <p:spPr>
          <a:xfrm>
            <a:off x="842941" y="1607840"/>
            <a:ext cx="3183552" cy="253802"/>
          </a:xfrm>
          <a:prstGeom prst="rect">
            <a:avLst/>
          </a:prstGeom>
          <a:noFill/>
          <a:ln/>
        </p:spPr>
        <p:txBody>
          <a:bodyPr wrap="none" lIns="0" tIns="0" rIns="0" bIns="0" rtlCol="0" anchor="t"/>
          <a:lstStyle/>
          <a:p>
            <a:pPr marL="0" indent="0" algn="l">
              <a:lnSpc>
                <a:spcPct val="104000"/>
              </a:lnSpc>
              <a:buNone/>
            </a:pPr>
            <a:r>
              <a:rPr lang="en-US" sz="1550" b="1" kern="0" spc="-48">
                <a:solidFill>
                  <a:srgbClr val="272525"/>
                </a:solidFill>
                <a:latin typeface="Inter Bold" pitchFamily="34" charset="0"/>
                <a:ea typeface="Inter Bold" pitchFamily="34" charset="-122"/>
                <a:cs typeface="Inter Bold" pitchFamily="34" charset="-120"/>
              </a:rPr>
              <a:t>Mots de passe</a:t>
            </a:r>
            <a:endParaRPr lang="en-US" sz="1550"/>
          </a:p>
        </p:txBody>
      </p:sp>
      <p:sp>
        <p:nvSpPr>
          <p:cNvPr id="5" name="Text 3"/>
          <p:cNvSpPr/>
          <p:nvPr/>
        </p:nvSpPr>
        <p:spPr>
          <a:xfrm>
            <a:off x="842941" y="2001143"/>
            <a:ext cx="3183552" cy="724793"/>
          </a:xfrm>
          <a:prstGeom prst="rect">
            <a:avLst/>
          </a:prstGeom>
          <a:noFill/>
          <a:ln/>
        </p:spPr>
        <p:txBody>
          <a:bodyPr wrap="square" lIns="0" tIns="0" rIns="0" bIns="0" rtlCol="0" anchor="t">
            <a:normAutofit/>
          </a:bodyPr>
          <a:lstStyle/>
          <a:p>
            <a:pPr marL="0" indent="0" algn="l">
              <a:lnSpc>
                <a:spcPct val="124000"/>
              </a:lnSpc>
              <a:buNone/>
            </a:pPr>
            <a:r>
              <a:rPr lang="en-US" sz="1250" kern="0" spc="-26">
                <a:solidFill>
                  <a:srgbClr val="272525"/>
                </a:solidFill>
                <a:latin typeface="Inter" pitchFamily="34" charset="0"/>
                <a:ea typeface="Inter" pitchFamily="34" charset="-122"/>
                <a:cs typeface="Inter" pitchFamily="34" charset="-120"/>
              </a:rPr>
              <a:t>Hachés en </a:t>
            </a:r>
            <a:r>
              <a:rPr lang="en-US" sz="1250" b="1" kern="0" spc="-26">
                <a:solidFill>
                  <a:srgbClr val="272525"/>
                </a:solidFill>
                <a:latin typeface="Inter Bold" pitchFamily="34" charset="0"/>
                <a:ea typeface="Inter Bold" pitchFamily="34" charset="-122"/>
                <a:cs typeface="Inter Bold" pitchFamily="34" charset="-120"/>
              </a:rPr>
              <a:t>Argon2id</a:t>
            </a:r>
            <a:r>
              <a:rPr lang="en-US" sz="1250" kern="0" spc="-26">
                <a:solidFill>
                  <a:srgbClr val="272525"/>
                </a:solidFill>
                <a:latin typeface="Inter" pitchFamily="34" charset="0"/>
                <a:ea typeface="Inter" pitchFamily="34" charset="-122"/>
                <a:cs typeface="Inter" pitchFamily="34" charset="-120"/>
              </a:rPr>
              <a:t>, la recommandation actuelle. Jetons JWT, Helmet, et limitation des tentatives comptée dans Redis.</a:t>
            </a:r>
            <a:endParaRPr lang="en-US" sz="1250"/>
          </a:p>
        </p:txBody>
      </p:sp>
      <p:sp>
        <p:nvSpPr>
          <p:cNvPr id="6" name="Shape 4"/>
          <p:cNvSpPr/>
          <p:nvPr/>
        </p:nvSpPr>
        <p:spPr>
          <a:xfrm>
            <a:off x="661475" y="3046909"/>
            <a:ext cx="3546485" cy="1481038"/>
          </a:xfrm>
          <a:prstGeom prst="roundRect">
            <a:avLst>
              <a:gd name="adj" fmla="val 4606"/>
            </a:avLst>
          </a:prstGeom>
          <a:solidFill>
            <a:srgbClr val="FFFFFF"/>
          </a:solidFill>
          <a:ln w="19050">
            <a:solidFill>
              <a:srgbClr val="C0C1D7"/>
            </a:solidFill>
            <a:prstDash val="solid"/>
          </a:ln>
        </p:spPr>
        <p:txBody>
          <a:bodyPr/>
          <a:lstStyle/>
          <a:p>
            <a:endParaRPr lang="fr-FR"/>
          </a:p>
        </p:txBody>
      </p:sp>
      <p:sp>
        <p:nvSpPr>
          <p:cNvPr id="7" name="Text 5"/>
          <p:cNvSpPr/>
          <p:nvPr/>
        </p:nvSpPr>
        <p:spPr>
          <a:xfrm>
            <a:off x="842941" y="3228380"/>
            <a:ext cx="3183552" cy="253802"/>
          </a:xfrm>
          <a:prstGeom prst="rect">
            <a:avLst/>
          </a:prstGeom>
          <a:noFill/>
          <a:ln/>
        </p:spPr>
        <p:txBody>
          <a:bodyPr wrap="none" lIns="0" tIns="0" rIns="0" bIns="0" rtlCol="0" anchor="t"/>
          <a:lstStyle/>
          <a:p>
            <a:pPr marL="0" indent="0" algn="l">
              <a:lnSpc>
                <a:spcPct val="104000"/>
              </a:lnSpc>
              <a:buNone/>
            </a:pPr>
            <a:r>
              <a:rPr lang="en-US" sz="1550" b="1" kern="0" spc="-48">
                <a:solidFill>
                  <a:srgbClr val="272525"/>
                </a:solidFill>
                <a:latin typeface="Inter Bold" pitchFamily="34" charset="0"/>
                <a:ea typeface="Inter Bold" pitchFamily="34" charset="-122"/>
                <a:cs typeface="Inter Bold" pitchFamily="34" charset="-120"/>
              </a:rPr>
              <a:t>Pièces justificatives</a:t>
            </a:r>
            <a:endParaRPr lang="en-US" sz="1550"/>
          </a:p>
        </p:txBody>
      </p:sp>
      <p:sp>
        <p:nvSpPr>
          <p:cNvPr id="8" name="Text 6"/>
          <p:cNvSpPr/>
          <p:nvPr/>
        </p:nvSpPr>
        <p:spPr>
          <a:xfrm>
            <a:off x="842941" y="3621683"/>
            <a:ext cx="3183552" cy="724793"/>
          </a:xfrm>
          <a:prstGeom prst="rect">
            <a:avLst/>
          </a:prstGeom>
          <a:noFill/>
          <a:ln/>
        </p:spPr>
        <p:txBody>
          <a:bodyPr wrap="square" lIns="0" tIns="0" rIns="0" bIns="0" rtlCol="0" anchor="t">
            <a:normAutofit/>
          </a:bodyPr>
          <a:lstStyle/>
          <a:p>
            <a:pPr marL="0" indent="0" algn="l">
              <a:lnSpc>
                <a:spcPct val="124000"/>
              </a:lnSpc>
              <a:buNone/>
            </a:pPr>
            <a:r>
              <a:rPr lang="en-US" sz="1250" kern="0" spc="-26">
                <a:solidFill>
                  <a:srgbClr val="272525"/>
                </a:solidFill>
                <a:latin typeface="Inter" pitchFamily="34" charset="0"/>
                <a:ea typeface="Inter" pitchFamily="34" charset="-122"/>
                <a:cs typeface="Inter" pitchFamily="34" charset="-120"/>
              </a:rPr>
              <a:t>Diplôme d'État et pièce d'identité chiffrés au repos en </a:t>
            </a:r>
            <a:r>
              <a:rPr lang="en-US" sz="1250" b="1" kern="0" spc="-26">
                <a:solidFill>
                  <a:srgbClr val="272525"/>
                </a:solidFill>
                <a:latin typeface="Inter Bold" pitchFamily="34" charset="0"/>
                <a:ea typeface="Inter Bold" pitchFamily="34" charset="-122"/>
                <a:cs typeface="Inter Bold" pitchFamily="34" charset="-120"/>
              </a:rPr>
              <a:t>AES-256-GCM</a:t>
            </a:r>
            <a:r>
              <a:rPr lang="en-US" sz="1250" kern="0" spc="-26">
                <a:solidFill>
                  <a:srgbClr val="272525"/>
                </a:solidFill>
                <a:latin typeface="Inter" pitchFamily="34" charset="0"/>
                <a:ea typeface="Inter" pitchFamily="34" charset="-122"/>
                <a:cs typeface="Inter" pitchFamily="34" charset="-120"/>
              </a:rPr>
              <a:t>, au titre de l'article 32 du RGPD.</a:t>
            </a:r>
            <a:endParaRPr lang="en-US" sz="1250"/>
          </a:p>
        </p:txBody>
      </p:sp>
      <p:sp>
        <p:nvSpPr>
          <p:cNvPr id="9" name="Shape 7"/>
          <p:cNvSpPr/>
          <p:nvPr/>
        </p:nvSpPr>
        <p:spPr>
          <a:xfrm>
            <a:off x="661475" y="4667448"/>
            <a:ext cx="3546485" cy="1481038"/>
          </a:xfrm>
          <a:prstGeom prst="roundRect">
            <a:avLst>
              <a:gd name="adj" fmla="val 4606"/>
            </a:avLst>
          </a:prstGeom>
          <a:solidFill>
            <a:srgbClr val="FFFFFF"/>
          </a:solidFill>
          <a:ln w="19050">
            <a:solidFill>
              <a:srgbClr val="C0C1D7"/>
            </a:solidFill>
            <a:prstDash val="solid"/>
          </a:ln>
        </p:spPr>
        <p:txBody>
          <a:bodyPr/>
          <a:lstStyle/>
          <a:p>
            <a:endParaRPr lang="fr-FR"/>
          </a:p>
        </p:txBody>
      </p:sp>
      <p:sp>
        <p:nvSpPr>
          <p:cNvPr id="10" name="Text 8"/>
          <p:cNvSpPr/>
          <p:nvPr/>
        </p:nvSpPr>
        <p:spPr>
          <a:xfrm>
            <a:off x="842941" y="4848920"/>
            <a:ext cx="3183552" cy="253802"/>
          </a:xfrm>
          <a:prstGeom prst="rect">
            <a:avLst/>
          </a:prstGeom>
          <a:noFill/>
          <a:ln/>
        </p:spPr>
        <p:txBody>
          <a:bodyPr wrap="none" lIns="0" tIns="0" rIns="0" bIns="0" rtlCol="0" anchor="t"/>
          <a:lstStyle/>
          <a:p>
            <a:pPr marL="0" indent="0" algn="l">
              <a:lnSpc>
                <a:spcPct val="104000"/>
              </a:lnSpc>
              <a:buNone/>
            </a:pPr>
            <a:r>
              <a:rPr lang="en-US" sz="1550" b="1" kern="0" spc="-48">
                <a:solidFill>
                  <a:srgbClr val="272525"/>
                </a:solidFill>
                <a:latin typeface="Inter Bold" pitchFamily="34" charset="0"/>
                <a:ea typeface="Inter Bold" pitchFamily="34" charset="-122"/>
                <a:cs typeface="Inter Bold" pitchFamily="34" charset="-120"/>
              </a:rPr>
              <a:t>Aucune donnée de santé</a:t>
            </a:r>
            <a:endParaRPr lang="en-US" sz="1550"/>
          </a:p>
        </p:txBody>
      </p:sp>
      <p:sp>
        <p:nvSpPr>
          <p:cNvPr id="11" name="Text 9"/>
          <p:cNvSpPr/>
          <p:nvPr/>
        </p:nvSpPr>
        <p:spPr>
          <a:xfrm>
            <a:off x="842941" y="5242223"/>
            <a:ext cx="3183552" cy="724793"/>
          </a:xfrm>
          <a:prstGeom prst="rect">
            <a:avLst/>
          </a:prstGeom>
          <a:noFill/>
          <a:ln/>
        </p:spPr>
        <p:txBody>
          <a:bodyPr wrap="square" lIns="0" tIns="0" rIns="0" bIns="0" rtlCol="0" anchor="t">
            <a:normAutofit/>
          </a:bodyPr>
          <a:lstStyle/>
          <a:p>
            <a:pPr marL="0" indent="0" algn="l">
              <a:lnSpc>
                <a:spcPct val="124000"/>
              </a:lnSpc>
              <a:buNone/>
            </a:pPr>
            <a:r>
              <a:rPr lang="en-US" sz="1250" kern="0" spc="-26">
                <a:solidFill>
                  <a:srgbClr val="272525"/>
                </a:solidFill>
                <a:latin typeface="Inter" pitchFamily="34" charset="0"/>
                <a:ea typeface="Inter" pitchFamily="34" charset="-122"/>
                <a:cs typeface="Inter" pitchFamily="34" charset="-120"/>
              </a:rPr>
              <a:t>Un besoin décrit un poste, un service et des horaires, jamais l'état des patients ou des résidents.</a:t>
            </a:r>
            <a:endParaRPr lang="en-US" sz="1250"/>
          </a:p>
        </p:txBody>
      </p:sp>
      <p:pic>
        <p:nvPicPr>
          <p:cNvPr id="12" name="Image 0" descr="preencoded.png"/>
          <p:cNvPicPr>
            <a:picLocks noChangeAspect="1"/>
          </p:cNvPicPr>
          <p:nvPr/>
        </p:nvPicPr>
        <p:blipFill>
          <a:blip r:embed="rId3"/>
          <a:stretch>
            <a:fillRect/>
          </a:stretch>
        </p:blipFill>
        <p:spPr>
          <a:xfrm>
            <a:off x="4610580" y="1825030"/>
            <a:ext cx="6925990" cy="392479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661475" y="1681857"/>
            <a:ext cx="10868745"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Les données publiques</a:t>
            </a:r>
            <a:endParaRPr lang="en-US" sz="370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2650530"/>
            <a:ext cx="472468" cy="472480"/>
          </a:xfrm>
          <a:prstGeom prst="rect">
            <a:avLst/>
          </a:prstGeom>
        </p:spPr>
      </p:pic>
      <p:sp>
        <p:nvSpPr>
          <p:cNvPr id="4" name="Text 1"/>
          <p:cNvSpPr/>
          <p:nvPr/>
        </p:nvSpPr>
        <p:spPr>
          <a:xfrm>
            <a:off x="1370177" y="2650530"/>
            <a:ext cx="2756724"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API France Travail</a:t>
            </a:r>
            <a:endParaRPr lang="en-US" sz="1850"/>
          </a:p>
        </p:txBody>
      </p:sp>
      <p:sp>
        <p:nvSpPr>
          <p:cNvPr id="5" name="Text 2"/>
          <p:cNvSpPr/>
          <p:nvPr/>
        </p:nvSpPr>
        <p:spPr>
          <a:xfrm>
            <a:off x="1370177" y="3059212"/>
            <a:ext cx="2756724" cy="907256"/>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Pour les offres du métier et la tension du marché par bassin d'emploi.</a:t>
            </a:r>
            <a:endParaRPr lang="en-US" sz="145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63135" y="2650530"/>
            <a:ext cx="472468" cy="472480"/>
          </a:xfrm>
          <a:prstGeom prst="rect">
            <a:avLst/>
          </a:prstGeom>
        </p:spPr>
      </p:pic>
      <p:sp>
        <p:nvSpPr>
          <p:cNvPr id="7" name="Text 3"/>
          <p:cNvSpPr/>
          <p:nvPr/>
        </p:nvSpPr>
        <p:spPr>
          <a:xfrm>
            <a:off x="5071836" y="2650530"/>
            <a:ext cx="2756724"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Base Adresse Nationale</a:t>
            </a:r>
            <a:endParaRPr lang="en-US" sz="1850"/>
          </a:p>
        </p:txBody>
      </p:sp>
      <p:sp>
        <p:nvSpPr>
          <p:cNvPr id="8" name="Text 4"/>
          <p:cNvSpPr/>
          <p:nvPr/>
        </p:nvSpPr>
        <p:spPr>
          <a:xfrm>
            <a:off x="5071836" y="3059212"/>
            <a:ext cx="2756724"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Pour le géocodage des établissements.</a:t>
            </a:r>
            <a:endParaRPr lang="en-US" sz="145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64794" y="2650530"/>
            <a:ext cx="472468" cy="472480"/>
          </a:xfrm>
          <a:prstGeom prst="rect">
            <a:avLst/>
          </a:prstGeom>
        </p:spPr>
      </p:pic>
      <p:sp>
        <p:nvSpPr>
          <p:cNvPr id="10" name="Text 5"/>
          <p:cNvSpPr/>
          <p:nvPr/>
        </p:nvSpPr>
        <p:spPr>
          <a:xfrm>
            <a:off x="8773496" y="2650530"/>
            <a:ext cx="2756724"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Pipeline de traitement</a:t>
            </a:r>
            <a:endParaRPr lang="en-US" sz="1850"/>
          </a:p>
        </p:txBody>
      </p:sp>
      <p:sp>
        <p:nvSpPr>
          <p:cNvPr id="11" name="Text 6"/>
          <p:cNvSpPr/>
          <p:nvPr/>
        </p:nvSpPr>
        <p:spPr>
          <a:xfrm>
            <a:off x="8773496" y="3059212"/>
            <a:ext cx="2756724" cy="2116931"/>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Les données sont importées, nettoyées et normalisées par un outil en ligne de commande développé avec Commander, puis alimentent l'indicateur de tension affiché à la saisie d'un besoin.</a:t>
            </a:r>
            <a:endParaRPr lang="en-US" sz="14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Automatisations">
    <p:spTree>
      <p:nvGrpSpPr>
        <p:cNvPr id="1" name=""/>
        <p:cNvGrpSpPr/>
        <p:nvPr/>
      </p:nvGrpSpPr>
      <p:grpSpPr>
        <a:xfrm>
          <a:off x="0" y="0"/>
          <a:ext cx="0" cy="0"/>
          <a:chOff x="0" y="0"/>
          <a:chExt cx="0" cy="0"/>
        </a:xfrm>
      </p:grpSpPr>
      <p:sp>
        <p:nvSpPr>
          <p:cNvPr id="2" name="Titre 2"/>
          <p:cNvSpPr txBox="1"/>
          <p:nvPr/>
        </p:nvSpPr>
        <p:spPr>
          <a:xfrm>
            <a:off x="661475" y="536575"/>
            <a:ext cx="10868745" cy="406003"/>
          </a:xfrm>
          <a:prstGeom prst="rect">
            <a:avLst/>
          </a:prstGeom>
          <a:noFill/>
        </p:spPr>
        <p:txBody>
          <a:bodyPr wrap="none" lIns="0" tIns="0" rIns="0" bIns="0" rtlCol="0" anchor="ctr">
            <a:noAutofit/>
          </a:bodyPr>
          <a:lstStyle/>
          <a:p>
            <a:pPr marL="0" indent="0" algn="l">
              <a:lnSpc>
                <a:spcPct val="104000"/>
              </a:lnSpc>
              <a:buNone/>
            </a:pPr>
            <a:r>
              <a:rPr lang="fr-FR" sz="2550" b="1" kern="0" spc="-77">
                <a:solidFill>
                  <a:srgbClr val="000000"/>
                </a:solidFill>
                <a:latin typeface="Inter Bold" pitchFamily="34" charset="0"/>
                <a:ea typeface="Inter Bold" pitchFamily="34" charset="-122"/>
                <a:cs typeface="Inter Bold" pitchFamily="34" charset="-120"/>
              </a:rPr>
              <a:t>Les automatisations</a:t>
            </a:r>
          </a:p>
        </p:txBody>
      </p:sp>
      <p:sp>
        <p:nvSpPr>
          <p:cNvPr id="3" name="Sous-titre 3"/>
          <p:cNvSpPr txBox="1"/>
          <p:nvPr/>
        </p:nvSpPr>
        <p:spPr>
          <a:xfrm>
            <a:off x="661475" y="1060000"/>
            <a:ext cx="10868745" cy="320000"/>
          </a:xfrm>
          <a:prstGeom prst="rect">
            <a:avLst/>
          </a:prstGeom>
          <a:noFill/>
        </p:spPr>
        <p:txBody>
          <a:bodyPr wrap="square" lIns="0" tIns="0" rIns="0" bIns="0" rtlCol="0" anchor="t">
            <a:noAutofit/>
          </a:bodyPr>
          <a:lstStyle/>
          <a:p>
            <a:pPr marL="0" indent="0" algn="l">
              <a:lnSpc>
                <a:spcPct val="113000"/>
              </a:lnSpc>
              <a:buNone/>
            </a:pPr>
            <a:r>
              <a:rPr lang="fr-FR" sz="1100" kern="0" spc="-20">
                <a:solidFill>
                  <a:srgbClr val="272525"/>
                </a:solidFill>
                <a:latin typeface="Inter" pitchFamily="34" charset="0"/>
                <a:ea typeface="Inter" pitchFamily="34" charset="-122"/>
                <a:cs typeface="Inter" pitchFamily="34" charset="-120"/>
              </a:rPr>
              <a:t>Trois workflows </a:t>
            </a:r>
            <a:r>
              <a:rPr lang="fr-FR" sz="1100" b="1" kern="0" spc="-20">
                <a:solidFill>
                  <a:srgbClr val="272525"/>
                </a:solidFill>
                <a:latin typeface="Inter Bold" pitchFamily="34" charset="0"/>
                <a:ea typeface="Inter Bold" pitchFamily="34" charset="-122"/>
                <a:cs typeface="Inter Bold" pitchFamily="34" charset="-120"/>
              </a:rPr>
              <a:t>n8n</a:t>
            </a:r>
            <a:r>
              <a:rPr lang="fr-FR" sz="1100" kern="0" spc="-20">
                <a:solidFill>
                  <a:srgbClr val="272525"/>
                </a:solidFill>
                <a:latin typeface="Inter" pitchFamily="34" charset="0"/>
                <a:ea typeface="Inter" pitchFamily="34" charset="-122"/>
                <a:cs typeface="Inter" pitchFamily="34" charset="-120"/>
              </a:rPr>
              <a:t>, déclenchés par des webhooks dont la signature est vérifiée par </a:t>
            </a:r>
            <a:r>
              <a:rPr lang="fr-FR" sz="1100" b="1" kern="0" spc="-20">
                <a:solidFill>
                  <a:srgbClr val="272525"/>
                </a:solidFill>
                <a:latin typeface="Inter Bold" pitchFamily="34" charset="0"/>
                <a:ea typeface="Inter Bold" pitchFamily="34" charset="-122"/>
                <a:cs typeface="Inter Bold" pitchFamily="34" charset="-120"/>
              </a:rPr>
              <a:t>HMAC</a:t>
            </a:r>
            <a:r>
              <a:rPr lang="fr-FR" sz="1100" kern="0" spc="-20">
                <a:solidFill>
                  <a:srgbClr val="272525"/>
                </a:solidFill>
                <a:latin typeface="Inter" pitchFamily="34" charset="0"/>
                <a:ea typeface="Inter" pitchFamily="34" charset="-122"/>
                <a:cs typeface="Inter" pitchFamily="34" charset="-120"/>
              </a:rPr>
              <a:t> : aucun appel ne peut être falsifié.</a:t>
            </a:r>
          </a:p>
        </p:txBody>
      </p:sp>
      <p:sp>
        <p:nvSpPr>
          <p:cNvPr id="4" name="Application 4"/>
          <p:cNvSpPr/>
          <p:nvPr/>
        </p:nvSpPr>
        <p:spPr>
          <a:xfrm>
            <a:off x="661475" y="1600000"/>
            <a:ext cx="2800000" cy="3150000"/>
          </a:xfrm>
          <a:prstGeom prst="roundRect">
            <a:avLst>
              <a:gd name="adj" fmla="val 6000"/>
            </a:avLst>
          </a:prstGeom>
          <a:solidFill>
            <a:srgbClr val="DADBF1"/>
          </a:solidFill>
          <a:ln w="6350">
            <a:solidFill>
              <a:srgbClr val="C0C1D7"/>
            </a:solidFill>
          </a:ln>
        </p:spPr>
        <p:txBody>
          <a:bodyPr wrap="square" lIns="182880" tIns="182880" rIns="182880" bIns="182880" rtlCol="0" anchor="ctr">
            <a:noAutofit/>
          </a:bodyPr>
          <a:lstStyle/>
          <a:p>
            <a:pPr marL="0" indent="0" algn="l">
              <a:lnSpc>
                <a:spcPct val="104000"/>
              </a:lnSpc>
              <a:spcAft>
                <a:spcPts val="700"/>
              </a:spcAft>
              <a:buNone/>
            </a:pPr>
            <a:r>
              <a:rPr lang="fr-FR" sz="1250" b="1" kern="0" spc="-38">
                <a:solidFill>
                  <a:srgbClr val="272525"/>
                </a:solidFill>
                <a:latin typeface="Inter Bold" pitchFamily="34" charset="0"/>
                <a:ea typeface="Inter Bold" pitchFamily="34" charset="-122"/>
                <a:cs typeface="Inter Bold" pitchFamily="34" charset="-120"/>
              </a:rPr>
              <a:t>Application Relève</a:t>
            </a:r>
          </a:p>
          <a:p>
            <a:pPr marL="0" indent="0" algn="l">
              <a:lnSpc>
                <a:spcPct val="113000"/>
              </a:lnSpc>
              <a:spcAft>
                <a:spcPts val="900"/>
              </a:spcAft>
              <a:buNone/>
            </a:pPr>
            <a:r>
              <a:rPr lang="fr-FR" sz="1000" kern="0" spc="-20">
                <a:solidFill>
                  <a:srgbClr val="272525"/>
                </a:solidFill>
                <a:latin typeface="Inter" pitchFamily="34" charset="0"/>
                <a:ea typeface="Inter" pitchFamily="34" charset="-122"/>
                <a:cs typeface="Inter" pitchFamily="34" charset="-120"/>
              </a:rPr>
              <a:t>Chaque changement d’état d’une mission part vers n8n : publiée, proposée, acceptée, pourvue, annulée.</a:t>
            </a:r>
          </a:p>
          <a:p>
            <a:pPr marL="0" indent="0" algn="l">
              <a:lnSpc>
                <a:spcPct val="113000"/>
              </a:lnSpc>
              <a:buNone/>
            </a:pPr>
            <a:r>
              <a:rPr lang="fr-FR" sz="1000" b="1" kern="0" spc="-20">
                <a:solidFill>
                  <a:srgbClr val="4950BC"/>
                </a:solidFill>
                <a:latin typeface="Inter Bold" pitchFamily="34" charset="0"/>
                <a:ea typeface="Inter Bold" pitchFamily="34" charset="-122"/>
                <a:cs typeface="Inter Bold" pitchFamily="34" charset="-120"/>
              </a:rPr>
              <a:t>Webhook signé HMAC</a:t>
            </a:r>
          </a:p>
        </p:txBody>
      </p:sp>
      <p:sp>
        <p:nvSpPr>
          <p:cNvPr id="5" name="Fleche 5"/>
          <p:cNvSpPr/>
          <p:nvPr/>
        </p:nvSpPr>
        <p:spPr>
          <a:xfrm>
            <a:off x="3561475" y="3025000"/>
            <a:ext cx="700000" cy="300000"/>
          </a:xfrm>
          <a:prstGeom prst="rightArrow">
            <a:avLst/>
          </a:prstGeom>
          <a:solidFill>
            <a:srgbClr val="4950BC"/>
          </a:solidFill>
          <a:ln>
            <a:noFill/>
          </a:ln>
        </p:spPr>
      </p:sp>
      <p:sp>
        <p:nvSpPr>
          <p:cNvPr id="6" name="n8n 6"/>
          <p:cNvSpPr/>
          <p:nvPr/>
        </p:nvSpPr>
        <p:spPr>
          <a:xfrm>
            <a:off x="4361475" y="1600000"/>
            <a:ext cx="3200000" cy="3150000"/>
          </a:xfrm>
          <a:prstGeom prst="roundRect">
            <a:avLst>
              <a:gd name="adj" fmla="val 6000"/>
            </a:avLst>
          </a:prstGeom>
          <a:solidFill>
            <a:srgbClr val="4950BC"/>
          </a:solidFill>
          <a:ln>
            <a:noFill/>
          </a:ln>
        </p:spPr>
        <p:txBody>
          <a:bodyPr wrap="square" lIns="182880" tIns="182880" rIns="182880" bIns="182880" rtlCol="0" anchor="ctr">
            <a:noAutofit/>
          </a:bodyPr>
          <a:lstStyle/>
          <a:p>
            <a:pPr marL="0" indent="0" algn="l">
              <a:lnSpc>
                <a:spcPct val="104000"/>
              </a:lnSpc>
              <a:spcAft>
                <a:spcPts val="700"/>
              </a:spcAft>
              <a:buNone/>
            </a:pPr>
            <a:r>
              <a:rPr lang="fr-FR" sz="1250" b="1" kern="0" spc="-38">
                <a:solidFill>
                  <a:srgbClr val="FFFFFF"/>
                </a:solidFill>
                <a:latin typeface="Inter Bold" pitchFamily="34" charset="0"/>
                <a:ea typeface="Inter Bold" pitchFamily="34" charset="-122"/>
                <a:cs typeface="Inter Bold" pitchFamily="34" charset="-120"/>
              </a:rPr>
              <a:t>n8n, le chef d’orchestre</a:t>
            </a:r>
          </a:p>
          <a:p>
            <a:pPr marL="0" indent="0" algn="l">
              <a:lnSpc>
                <a:spcPct val="113000"/>
              </a:lnSpc>
              <a:spcAft>
                <a:spcPts val="900"/>
              </a:spcAft>
              <a:buNone/>
            </a:pPr>
            <a:r>
              <a:rPr lang="fr-FR" sz="1000" kern="0" spc="-20">
                <a:solidFill>
                  <a:srgbClr val="FFFFFF"/>
                </a:solidFill>
                <a:latin typeface="Inter" pitchFamily="34" charset="0"/>
                <a:ea typeface="Inter" pitchFamily="34" charset="-122"/>
                <a:cs typeface="Inter" pitchFamily="34" charset="-120"/>
              </a:rPr>
              <a:t>Vérifie la signature, choisit qui prévenir, sur quel canal et combien de fois, puis rend la main à l’API pour l’envoi.</a:t>
            </a:r>
          </a:p>
          <a:p>
            <a:pPr marL="0" indent="0" algn="l">
              <a:lnSpc>
                <a:spcPct val="113000"/>
              </a:lnSpc>
              <a:buNone/>
            </a:pPr>
            <a:r>
              <a:rPr lang="fr-FR" sz="1000" b="1" kern="0" spc="-20">
                <a:solidFill>
                  <a:srgbClr val="DADBF1"/>
                </a:solidFill>
                <a:latin typeface="Inter Bold" pitchFamily="34" charset="0"/>
                <a:ea typeface="Inter Bold" pitchFamily="34" charset="-122"/>
                <a:cs typeface="Inter Bold" pitchFamily="34" charset="-120"/>
              </a:rPr>
              <a:t>Auto-hébergé avec l’application</a:t>
            </a:r>
          </a:p>
        </p:txBody>
      </p:sp>
      <p:sp>
        <p:nvSpPr>
          <p:cNvPr id="7" name="Fleche 7"/>
          <p:cNvSpPr/>
          <p:nvPr/>
        </p:nvSpPr>
        <p:spPr>
          <a:xfrm>
            <a:off x="7661475" y="3025000"/>
            <a:ext cx="700000" cy="300000"/>
          </a:xfrm>
          <a:prstGeom prst="rightArrow">
            <a:avLst/>
          </a:prstGeom>
          <a:solidFill>
            <a:srgbClr val="4950BC"/>
          </a:solidFill>
          <a:ln>
            <a:noFill/>
          </a:ln>
        </p:spPr>
      </p:sp>
      <p:sp>
        <p:nvSpPr>
          <p:cNvPr id="8" name="Canal 8"/>
          <p:cNvSpPr/>
          <p:nvPr/>
        </p:nvSpPr>
        <p:spPr>
          <a:xfrm>
            <a:off x="8461475" y="1600000"/>
            <a:ext cx="3068745" cy="963333"/>
          </a:xfrm>
          <a:prstGeom prst="roundRect">
            <a:avLst>
              <a:gd name="adj" fmla="val 9000"/>
            </a:avLst>
          </a:prstGeom>
          <a:solidFill>
            <a:srgbClr val="FFFFFF"/>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150" b="1" kern="0" spc="-38">
                <a:solidFill>
                  <a:srgbClr val="272525"/>
                </a:solidFill>
                <a:latin typeface="Inter Bold" pitchFamily="34" charset="0"/>
                <a:ea typeface="Inter Bold" pitchFamily="34" charset="-122"/>
                <a:cs typeface="Inter Bold" pitchFamily="34" charset="-120"/>
              </a:rPr>
              <a:t>E-mail au candidat</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Expédié par l’API, seule à connaître les adresses.</a:t>
            </a:r>
          </a:p>
        </p:txBody>
      </p:sp>
      <p:sp>
        <p:nvSpPr>
          <p:cNvPr id="9" name="Canal 9"/>
          <p:cNvSpPr/>
          <p:nvPr/>
        </p:nvSpPr>
        <p:spPr>
          <a:xfrm>
            <a:off x="8461475" y="2693333"/>
            <a:ext cx="3068745" cy="963333"/>
          </a:xfrm>
          <a:prstGeom prst="roundRect">
            <a:avLst>
              <a:gd name="adj" fmla="val 9000"/>
            </a:avLst>
          </a:prstGeom>
          <a:solidFill>
            <a:srgbClr val="FFFFFF"/>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150" b="1" kern="0" spc="-38">
                <a:solidFill>
                  <a:srgbClr val="272525"/>
                </a:solidFill>
                <a:latin typeface="Inter Bold" pitchFamily="34" charset="0"/>
                <a:ea typeface="Inter Bold" pitchFamily="34" charset="-122"/>
                <a:cs typeface="Inter Bold" pitchFamily="34" charset="-120"/>
              </a:rPr>
              <a:t>Slack pour l’agence</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Suivi en direct, relances et incidents.</a:t>
            </a:r>
          </a:p>
        </p:txBody>
      </p:sp>
      <p:sp>
        <p:nvSpPr>
          <p:cNvPr id="10" name="Canal 10"/>
          <p:cNvSpPr/>
          <p:nvPr/>
        </p:nvSpPr>
        <p:spPr>
          <a:xfrm>
            <a:off x="8461475" y="3786666"/>
            <a:ext cx="3068745" cy="963333"/>
          </a:xfrm>
          <a:prstGeom prst="roundRect">
            <a:avLst>
              <a:gd name="adj" fmla="val 9000"/>
            </a:avLst>
          </a:prstGeom>
          <a:solidFill>
            <a:srgbClr val="FFFFFF"/>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150" b="1" kern="0" spc="-38">
                <a:solidFill>
                  <a:srgbClr val="272525"/>
                </a:solidFill>
                <a:latin typeface="Inter Bold" pitchFamily="34" charset="0"/>
                <a:ea typeface="Inter Bold" pitchFamily="34" charset="-122"/>
                <a:cs typeface="Inter Bold" pitchFamily="34" charset="-120"/>
              </a:rPr>
              <a:t>Airtable</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Journal de chaque envoi, lu par l’agence.</a:t>
            </a:r>
          </a:p>
        </p:txBody>
      </p:sp>
      <p:sp>
        <p:nvSpPr>
          <p:cNvPr id="11" name="Badge 11"/>
          <p:cNvSpPr/>
          <p:nvPr/>
        </p:nvSpPr>
        <p:spPr>
          <a:xfrm>
            <a:off x="661475" y="5318522"/>
            <a:ext cx="292291" cy="292298"/>
          </a:xfrm>
          <a:prstGeom prst="roundRect">
            <a:avLst>
              <a:gd name="adj" fmla="val 18673"/>
            </a:avLst>
          </a:prstGeom>
          <a:solidFill>
            <a:srgbClr val="DADBF1"/>
          </a:solidFill>
          <a:ln w="6350">
            <a:solidFill>
              <a:srgbClr val="C0C1D7"/>
            </a:solidFill>
          </a:ln>
        </p:spPr>
        <p:txBody>
          <a:bodyPr wrap="square" lIns="0" tIns="0" rIns="0" bIns="0" rtlCol="0" anchor="ctr">
            <a:noAutofit/>
          </a:bodyPr>
          <a:lstStyle/>
          <a:p>
            <a:pPr marL="0" indent="0" algn="ctr">
              <a:lnSpc>
                <a:spcPct val="100000"/>
              </a:lnSpc>
              <a:buNone/>
            </a:pPr>
            <a:r>
              <a:rPr lang="fr-FR" sz="1500" b="1" kern="0" spc="-46">
                <a:solidFill>
                  <a:srgbClr val="272525"/>
                </a:solidFill>
                <a:latin typeface="Inter Bold" pitchFamily="34" charset="0"/>
                <a:ea typeface="Inter Bold" pitchFamily="34" charset="-122"/>
                <a:cs typeface="Inter Bold" pitchFamily="34" charset="-120"/>
              </a:rPr>
              <a:t>1</a:t>
            </a:r>
          </a:p>
        </p:txBody>
      </p:sp>
      <p:sp>
        <p:nvSpPr>
          <p:cNvPr id="12" name="Etape 12"/>
          <p:cNvSpPr txBox="1"/>
          <p:nvPr/>
        </p:nvSpPr>
        <p:spPr>
          <a:xfrm>
            <a:off x="1043061" y="5363170"/>
            <a:ext cx="3166884" cy="203002"/>
          </a:xfrm>
          <a:prstGeom prst="rect">
            <a:avLst/>
          </a:prstGeom>
          <a:noFill/>
        </p:spPr>
        <p:txBody>
          <a:bodyPr wrap="none" lIns="0" tIns="0" rIns="0" bIns="0" rtlCol="0" anchor="t">
            <a:noAutofit/>
          </a:bodyPr>
          <a:lstStyle/>
          <a:p>
            <a:pPr marL="0" indent="0" algn="l">
              <a:lnSpc>
                <a:spcPct val="104000"/>
              </a:lnSpc>
              <a:buNone/>
            </a:pPr>
            <a:r>
              <a:rPr lang="fr-FR" sz="1250" b="1" kern="0" spc="-38">
                <a:solidFill>
                  <a:srgbClr val="272525"/>
                </a:solidFill>
                <a:latin typeface="Inter Bold" pitchFamily="34" charset="0"/>
                <a:ea typeface="Inter Bold" pitchFamily="34" charset="-122"/>
                <a:cs typeface="Inter Bold" pitchFamily="34" charset="-120"/>
              </a:rPr>
              <a:t>Alertes candidats</a:t>
            </a:r>
          </a:p>
        </p:txBody>
      </p:sp>
      <p:sp>
        <p:nvSpPr>
          <p:cNvPr id="13" name="Resume 13"/>
          <p:cNvSpPr txBox="1"/>
          <p:nvPr/>
        </p:nvSpPr>
        <p:spPr>
          <a:xfrm>
            <a:off x="1043061" y="5619750"/>
            <a:ext cx="3166884" cy="350837"/>
          </a:xfrm>
          <a:prstGeom prst="rect">
            <a:avLst/>
          </a:prstGeom>
          <a:noFill/>
        </p:spPr>
        <p:txBody>
          <a:bodyPr wrap="square" lIns="0" tIns="0" rIns="0" bIns="0" rtlCol="0" anchor="t">
            <a:noAutofit/>
          </a:bodyPr>
          <a:lstStyle/>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Prévenir les bons candidats, au bon moment.</a:t>
            </a:r>
          </a:p>
        </p:txBody>
      </p:sp>
      <p:sp>
        <p:nvSpPr>
          <p:cNvPr id="14" name="Badge 14"/>
          <p:cNvSpPr/>
          <p:nvPr/>
        </p:nvSpPr>
        <p:spPr>
          <a:xfrm>
            <a:off x="4321563" y="5318522"/>
            <a:ext cx="292291" cy="292298"/>
          </a:xfrm>
          <a:prstGeom prst="roundRect">
            <a:avLst>
              <a:gd name="adj" fmla="val 18673"/>
            </a:avLst>
          </a:prstGeom>
          <a:solidFill>
            <a:srgbClr val="DADBF1"/>
          </a:solidFill>
          <a:ln w="6350">
            <a:solidFill>
              <a:srgbClr val="C0C1D7"/>
            </a:solidFill>
          </a:ln>
        </p:spPr>
        <p:txBody>
          <a:bodyPr wrap="square" lIns="0" tIns="0" rIns="0" bIns="0" rtlCol="0" anchor="ctr">
            <a:noAutofit/>
          </a:bodyPr>
          <a:lstStyle/>
          <a:p>
            <a:pPr marL="0" indent="0" algn="ctr">
              <a:lnSpc>
                <a:spcPct val="100000"/>
              </a:lnSpc>
              <a:buNone/>
            </a:pPr>
            <a:r>
              <a:rPr lang="fr-FR" sz="1500" b="1" kern="0" spc="-46">
                <a:solidFill>
                  <a:srgbClr val="272525"/>
                </a:solidFill>
                <a:latin typeface="Inter Bold" pitchFamily="34" charset="0"/>
                <a:ea typeface="Inter Bold" pitchFamily="34" charset="-122"/>
                <a:cs typeface="Inter Bold" pitchFamily="34" charset="-120"/>
              </a:rPr>
              <a:t>2</a:t>
            </a:r>
          </a:p>
        </p:txBody>
      </p:sp>
      <p:sp>
        <p:nvSpPr>
          <p:cNvPr id="15" name="Etape 15"/>
          <p:cNvSpPr txBox="1"/>
          <p:nvPr/>
        </p:nvSpPr>
        <p:spPr>
          <a:xfrm>
            <a:off x="4703149" y="5363170"/>
            <a:ext cx="3166884" cy="203002"/>
          </a:xfrm>
          <a:prstGeom prst="rect">
            <a:avLst/>
          </a:prstGeom>
          <a:noFill/>
        </p:spPr>
        <p:txBody>
          <a:bodyPr wrap="none" lIns="0" tIns="0" rIns="0" bIns="0" rtlCol="0" anchor="t">
            <a:noAutofit/>
          </a:bodyPr>
          <a:lstStyle/>
          <a:p>
            <a:pPr marL="0" indent="0" algn="l">
              <a:lnSpc>
                <a:spcPct val="104000"/>
              </a:lnSpc>
              <a:buNone/>
            </a:pPr>
            <a:r>
              <a:rPr lang="fr-FR" sz="1250" b="1" kern="0" spc="-38">
                <a:solidFill>
                  <a:srgbClr val="272525"/>
                </a:solidFill>
                <a:latin typeface="Inter Bold" pitchFamily="34" charset="0"/>
                <a:ea typeface="Inter Bold" pitchFamily="34" charset="-122"/>
                <a:cs typeface="Inter Bold" pitchFamily="34" charset="-120"/>
              </a:rPr>
              <a:t>Relance automatique</a:t>
            </a:r>
          </a:p>
        </p:txBody>
      </p:sp>
      <p:sp>
        <p:nvSpPr>
          <p:cNvPr id="16" name="Resume 16"/>
          <p:cNvSpPr txBox="1"/>
          <p:nvPr/>
        </p:nvSpPr>
        <p:spPr>
          <a:xfrm>
            <a:off x="4703149" y="5619750"/>
            <a:ext cx="3166884" cy="350837"/>
          </a:xfrm>
          <a:prstGeom prst="rect">
            <a:avLst/>
          </a:prstGeom>
          <a:noFill/>
        </p:spPr>
        <p:txBody>
          <a:bodyPr wrap="square" lIns="0" tIns="0" rIns="0" bIns="0" rtlCol="0" anchor="t">
            <a:noAutofit/>
          </a:bodyPr>
          <a:lstStyle/>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Ne laisser aucune mission sans réponse.</a:t>
            </a:r>
          </a:p>
        </p:txBody>
      </p:sp>
      <p:sp>
        <p:nvSpPr>
          <p:cNvPr id="17" name="Badge 17"/>
          <p:cNvSpPr/>
          <p:nvPr/>
        </p:nvSpPr>
        <p:spPr>
          <a:xfrm>
            <a:off x="7981651" y="5318522"/>
            <a:ext cx="292291" cy="292298"/>
          </a:xfrm>
          <a:prstGeom prst="roundRect">
            <a:avLst>
              <a:gd name="adj" fmla="val 18673"/>
            </a:avLst>
          </a:prstGeom>
          <a:solidFill>
            <a:srgbClr val="DADBF1"/>
          </a:solidFill>
          <a:ln w="6350">
            <a:solidFill>
              <a:srgbClr val="C0C1D7"/>
            </a:solidFill>
          </a:ln>
        </p:spPr>
        <p:txBody>
          <a:bodyPr wrap="square" lIns="0" tIns="0" rIns="0" bIns="0" rtlCol="0" anchor="ctr">
            <a:noAutofit/>
          </a:bodyPr>
          <a:lstStyle/>
          <a:p>
            <a:pPr marL="0" indent="0" algn="ctr">
              <a:lnSpc>
                <a:spcPct val="100000"/>
              </a:lnSpc>
              <a:buNone/>
            </a:pPr>
            <a:r>
              <a:rPr lang="fr-FR" sz="1500" b="1" kern="0" spc="-46">
                <a:solidFill>
                  <a:srgbClr val="272525"/>
                </a:solidFill>
                <a:latin typeface="Inter Bold" pitchFamily="34" charset="0"/>
                <a:ea typeface="Inter Bold" pitchFamily="34" charset="-122"/>
                <a:cs typeface="Inter Bold" pitchFamily="34" charset="-120"/>
              </a:rPr>
              <a:t>3</a:t>
            </a:r>
          </a:p>
        </p:txBody>
      </p:sp>
      <p:sp>
        <p:nvSpPr>
          <p:cNvPr id="18" name="Etape 18"/>
          <p:cNvSpPr txBox="1"/>
          <p:nvPr/>
        </p:nvSpPr>
        <p:spPr>
          <a:xfrm>
            <a:off x="8363237" y="5363170"/>
            <a:ext cx="3166884" cy="203002"/>
          </a:xfrm>
          <a:prstGeom prst="rect">
            <a:avLst/>
          </a:prstGeom>
          <a:noFill/>
        </p:spPr>
        <p:txBody>
          <a:bodyPr wrap="none" lIns="0" tIns="0" rIns="0" bIns="0" rtlCol="0" anchor="t">
            <a:noAutofit/>
          </a:bodyPr>
          <a:lstStyle/>
          <a:p>
            <a:pPr marL="0" indent="0" algn="l">
              <a:lnSpc>
                <a:spcPct val="104000"/>
              </a:lnSpc>
              <a:buNone/>
            </a:pPr>
            <a:r>
              <a:rPr lang="fr-FR" sz="1250" b="1" kern="0" spc="-38">
                <a:solidFill>
                  <a:srgbClr val="272525"/>
                </a:solidFill>
                <a:latin typeface="Inter Bold" pitchFamily="34" charset="0"/>
                <a:ea typeface="Inter Bold" pitchFamily="34" charset="-122"/>
                <a:cs typeface="Inter Bold" pitchFamily="34" charset="-120"/>
              </a:rPr>
              <a:t>Confirmation candidat</a:t>
            </a:r>
          </a:p>
        </p:txBody>
      </p:sp>
      <p:sp>
        <p:nvSpPr>
          <p:cNvPr id="19" name="Resume 19"/>
          <p:cNvSpPr txBox="1"/>
          <p:nvPr/>
        </p:nvSpPr>
        <p:spPr>
          <a:xfrm>
            <a:off x="8363237" y="5619750"/>
            <a:ext cx="3166884" cy="350837"/>
          </a:xfrm>
          <a:prstGeom prst="rect">
            <a:avLst/>
          </a:prstGeom>
          <a:noFill/>
        </p:spPr>
        <p:txBody>
          <a:bodyPr wrap="square" lIns="0" tIns="0" rIns="0" bIns="0" rtlCol="0" anchor="t">
            <a:noAutofit/>
          </a:bodyPr>
          <a:lstStyle/>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Confirmer par écrit, et garder la trace.</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Alertes candidats">
    <p:spTree>
      <p:nvGrpSpPr>
        <p:cNvPr id="1" name=""/>
        <p:cNvGrpSpPr/>
        <p:nvPr/>
      </p:nvGrpSpPr>
      <p:grpSpPr>
        <a:xfrm>
          <a:off x="0" y="0"/>
          <a:ext cx="0" cy="0"/>
          <a:chOff x="0" y="0"/>
          <a:chExt cx="0" cy="0"/>
        </a:xfrm>
      </p:grpSpPr>
      <p:sp>
        <p:nvSpPr>
          <p:cNvPr id="2" name="Badge 2"/>
          <p:cNvSpPr/>
          <p:nvPr/>
        </p:nvSpPr>
        <p:spPr>
          <a:xfrm>
            <a:off x="661475" y="536575"/>
            <a:ext cx="406003" cy="406003"/>
          </a:xfrm>
          <a:prstGeom prst="roundRect">
            <a:avLst>
              <a:gd name="adj" fmla="val 18673"/>
            </a:avLst>
          </a:prstGeom>
          <a:solidFill>
            <a:srgbClr val="DADBF1"/>
          </a:solidFill>
          <a:ln w="6350">
            <a:solidFill>
              <a:srgbClr val="C0C1D7"/>
            </a:solidFill>
          </a:ln>
        </p:spPr>
        <p:txBody>
          <a:bodyPr wrap="square" lIns="0" tIns="0" rIns="0" bIns="0" rtlCol="0" anchor="ctr">
            <a:noAutofit/>
          </a:bodyPr>
          <a:lstStyle/>
          <a:p>
            <a:pPr marL="0" indent="0" algn="ctr">
              <a:lnSpc>
                <a:spcPct val="100000"/>
              </a:lnSpc>
              <a:buNone/>
            </a:pPr>
            <a:r>
              <a:rPr lang="fr-FR" sz="1700" b="1" kern="0" spc="-46">
                <a:solidFill>
                  <a:srgbClr val="272525"/>
                </a:solidFill>
                <a:latin typeface="Inter Bold" pitchFamily="34" charset="0"/>
                <a:ea typeface="Inter Bold" pitchFamily="34" charset="-122"/>
                <a:cs typeface="Inter Bold" pitchFamily="34" charset="-120"/>
              </a:rPr>
              <a:t>1</a:t>
            </a:r>
          </a:p>
        </p:txBody>
      </p:sp>
      <p:sp>
        <p:nvSpPr>
          <p:cNvPr id="3" name="Titre 3"/>
          <p:cNvSpPr txBox="1"/>
          <p:nvPr/>
        </p:nvSpPr>
        <p:spPr>
          <a:xfrm>
            <a:off x="1250358" y="536575"/>
            <a:ext cx="10279862" cy="406003"/>
          </a:xfrm>
          <a:prstGeom prst="rect">
            <a:avLst/>
          </a:prstGeom>
          <a:noFill/>
        </p:spPr>
        <p:txBody>
          <a:bodyPr wrap="none" lIns="0" tIns="0" rIns="0" bIns="0" rtlCol="0" anchor="ctr">
            <a:noAutofit/>
          </a:bodyPr>
          <a:lstStyle/>
          <a:p>
            <a:pPr marL="0" indent="0" algn="l">
              <a:lnSpc>
                <a:spcPct val="104000"/>
              </a:lnSpc>
              <a:buNone/>
            </a:pPr>
            <a:r>
              <a:rPr lang="fr-FR" sz="2550" b="1" kern="0" spc="-77">
                <a:solidFill>
                  <a:srgbClr val="000000"/>
                </a:solidFill>
                <a:latin typeface="Inter Bold" pitchFamily="34" charset="0"/>
                <a:ea typeface="Inter Bold" pitchFamily="34" charset="-122"/>
                <a:cs typeface="Inter Bold" pitchFamily="34" charset="-120"/>
              </a:rPr>
              <a:t>Alertes candidats</a:t>
            </a:r>
          </a:p>
        </p:txBody>
      </p:sp>
      <p:sp>
        <p:nvSpPr>
          <p:cNvPr id="4" name="Sous-titre 4"/>
          <p:cNvSpPr txBox="1"/>
          <p:nvPr/>
        </p:nvSpPr>
        <p:spPr>
          <a:xfrm>
            <a:off x="661475" y="1060000"/>
            <a:ext cx="10868745" cy="320000"/>
          </a:xfrm>
          <a:prstGeom prst="rect">
            <a:avLst/>
          </a:prstGeom>
          <a:noFill/>
        </p:spPr>
        <p:txBody>
          <a:bodyPr wrap="square" lIns="0" tIns="0" rIns="0" bIns="0" rtlCol="0" anchor="t">
            <a:noAutofit/>
          </a:bodyPr>
          <a:lstStyle/>
          <a:p>
            <a:pPr marL="0" indent="0" algn="l">
              <a:lnSpc>
                <a:spcPct val="113000"/>
              </a:lnSpc>
              <a:buNone/>
            </a:pPr>
            <a:r>
              <a:rPr lang="fr-FR" sz="1100" kern="0" spc="-20">
                <a:solidFill>
                  <a:srgbClr val="272525"/>
                </a:solidFill>
                <a:latin typeface="Inter" pitchFamily="34" charset="0"/>
                <a:ea typeface="Inter" pitchFamily="34" charset="-122"/>
                <a:cs typeface="Inter" pitchFamily="34" charset="-120"/>
              </a:rPr>
              <a:t>Réagit en temps réel à chaque événement d’une mission : publiée, proposée, acceptée, pourvue, annulée.</a:t>
            </a:r>
          </a:p>
        </p:txBody>
      </p:sp>
      <p:pic>
        <p:nvPicPr>
          <p:cNvPr id="5" name="Capture 5" descr="Capture de l’éditeur n8n : workflow 1, alertes candidats"/>
          <p:cNvPicPr>
            <a:picLocks noChangeAspect="1"/>
          </p:cNvPicPr>
          <p:nvPr/>
        </p:nvPicPr>
        <p:blipFill>
          <a:blip r:embed="rId3"/>
          <a:stretch>
            <a:fillRect/>
          </a:stretch>
        </p:blipFill>
        <p:spPr>
          <a:xfrm>
            <a:off x="661475" y="1560000"/>
            <a:ext cx="7600000" cy="3721948"/>
          </a:xfrm>
          <a:prstGeom prst="rect">
            <a:avLst/>
          </a:prstGeom>
          <a:ln w="9525">
            <a:solidFill>
              <a:srgbClr val="C0C1D7"/>
            </a:solidFill>
          </a:ln>
        </p:spPr>
      </p:pic>
      <p:sp>
        <p:nvSpPr>
          <p:cNvPr id="6" name="Legende 6"/>
          <p:cNvSpPr txBox="1"/>
          <p:nvPr/>
        </p:nvSpPr>
        <p:spPr>
          <a:xfrm>
            <a:off x="661475" y="5492800"/>
            <a:ext cx="7600000" cy="230000"/>
          </a:xfrm>
          <a:prstGeom prst="rect">
            <a:avLst/>
          </a:prstGeom>
          <a:noFill/>
        </p:spPr>
        <p:txBody>
          <a:bodyPr wrap="square" lIns="0" tIns="0" rIns="0" bIns="0" rtlCol="0" anchor="t">
            <a:noAutofit/>
          </a:bodyPr>
          <a:lstStyle/>
          <a:p>
            <a:pPr marL="0" indent="0" algn="l">
              <a:lnSpc>
                <a:spcPct val="113000"/>
              </a:lnSpc>
              <a:buNone/>
            </a:pPr>
            <a:r>
              <a:rPr lang="fr-FR" sz="900" kern="0" spc="-20">
                <a:solidFill>
                  <a:srgbClr val="5C5A66"/>
                </a:solidFill>
                <a:latin typeface="Inter" pitchFamily="34" charset="0"/>
                <a:ea typeface="Inter" pitchFamily="34" charset="-122"/>
                <a:cs typeface="Inter" pitchFamily="34" charset="-120"/>
              </a:rPr>
              <a:t>Capture de l’éditeur n8n · 35 nœuds · publié et testé sur de vraies missions</a:t>
            </a:r>
          </a:p>
        </p:txBody>
      </p:sp>
      <p:sp>
        <p:nvSpPr>
          <p:cNvPr id="7" name="Carte 7"/>
          <p:cNvSpPr/>
          <p:nvPr/>
        </p:nvSpPr>
        <p:spPr>
          <a:xfrm>
            <a:off x="8501475" y="1560000"/>
            <a:ext cx="3028745" cy="115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Une mission urgente trouve preneur</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Début dans moins de 48 h : alerte e-mail aux candidats éligibles, trois par jour au maximum pour ne jamais les saturer.</a:t>
            </a:r>
          </a:p>
        </p:txBody>
      </p:sp>
      <p:sp>
        <p:nvSpPr>
          <p:cNvPr id="8" name="Carte 8"/>
          <p:cNvSpPr/>
          <p:nvPr/>
        </p:nvSpPr>
        <p:spPr>
          <a:xfrm>
            <a:off x="8501475" y="2860000"/>
            <a:ext cx="3028745" cy="115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L’agence suit tout dans Slack</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Candidats proposés, acceptation, puis le même message passe à « pourvue » ou « annulée ».</a:t>
            </a:r>
          </a:p>
        </p:txBody>
      </p:sp>
      <p:sp>
        <p:nvSpPr>
          <p:cNvPr id="9" name="Carte 9"/>
          <p:cNvSpPr/>
          <p:nvPr/>
        </p:nvSpPr>
        <p:spPr>
          <a:xfrm>
            <a:off x="8501475" y="4160000"/>
            <a:ext cx="3028745" cy="115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Aucun appel ne peut être falsifié</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La signature est vérifiée à l’entrée. Un envoi en échec alerte un canal dédié, sans bloquer la suite.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Relance automatique">
    <p:spTree>
      <p:nvGrpSpPr>
        <p:cNvPr id="1" name=""/>
        <p:cNvGrpSpPr/>
        <p:nvPr/>
      </p:nvGrpSpPr>
      <p:grpSpPr>
        <a:xfrm>
          <a:off x="0" y="0"/>
          <a:ext cx="0" cy="0"/>
          <a:chOff x="0" y="0"/>
          <a:chExt cx="0" cy="0"/>
        </a:xfrm>
      </p:grpSpPr>
      <p:sp>
        <p:nvSpPr>
          <p:cNvPr id="2" name="Badge 2"/>
          <p:cNvSpPr/>
          <p:nvPr/>
        </p:nvSpPr>
        <p:spPr>
          <a:xfrm>
            <a:off x="661475" y="536575"/>
            <a:ext cx="406003" cy="406003"/>
          </a:xfrm>
          <a:prstGeom prst="roundRect">
            <a:avLst>
              <a:gd name="adj" fmla="val 18673"/>
            </a:avLst>
          </a:prstGeom>
          <a:solidFill>
            <a:srgbClr val="DADBF1"/>
          </a:solidFill>
          <a:ln w="6350">
            <a:solidFill>
              <a:srgbClr val="C0C1D7"/>
            </a:solidFill>
          </a:ln>
        </p:spPr>
        <p:txBody>
          <a:bodyPr wrap="square" lIns="0" tIns="0" rIns="0" bIns="0" rtlCol="0" anchor="ctr">
            <a:noAutofit/>
          </a:bodyPr>
          <a:lstStyle/>
          <a:p>
            <a:pPr marL="0" indent="0" algn="ctr">
              <a:lnSpc>
                <a:spcPct val="100000"/>
              </a:lnSpc>
              <a:buNone/>
            </a:pPr>
            <a:r>
              <a:rPr lang="fr-FR" sz="1700" b="1" kern="0" spc="-46">
                <a:solidFill>
                  <a:srgbClr val="272525"/>
                </a:solidFill>
                <a:latin typeface="Inter Bold" pitchFamily="34" charset="0"/>
                <a:ea typeface="Inter Bold" pitchFamily="34" charset="-122"/>
                <a:cs typeface="Inter Bold" pitchFamily="34" charset="-120"/>
              </a:rPr>
              <a:t>2</a:t>
            </a:r>
          </a:p>
        </p:txBody>
      </p:sp>
      <p:sp>
        <p:nvSpPr>
          <p:cNvPr id="3" name="Titre 3"/>
          <p:cNvSpPr txBox="1"/>
          <p:nvPr/>
        </p:nvSpPr>
        <p:spPr>
          <a:xfrm>
            <a:off x="1250358" y="536575"/>
            <a:ext cx="10279862" cy="406003"/>
          </a:xfrm>
          <a:prstGeom prst="rect">
            <a:avLst/>
          </a:prstGeom>
          <a:noFill/>
        </p:spPr>
        <p:txBody>
          <a:bodyPr wrap="none" lIns="0" tIns="0" rIns="0" bIns="0" rtlCol="0" anchor="ctr">
            <a:noAutofit/>
          </a:bodyPr>
          <a:lstStyle/>
          <a:p>
            <a:pPr marL="0" indent="0" algn="l">
              <a:lnSpc>
                <a:spcPct val="104000"/>
              </a:lnSpc>
              <a:buNone/>
            </a:pPr>
            <a:r>
              <a:rPr lang="fr-FR" sz="2550" b="1" kern="0" spc="-77">
                <a:solidFill>
                  <a:srgbClr val="000000"/>
                </a:solidFill>
                <a:latin typeface="Inter Bold" pitchFamily="34" charset="0"/>
                <a:ea typeface="Inter Bold" pitchFamily="34" charset="-122"/>
                <a:cs typeface="Inter Bold" pitchFamily="34" charset="-120"/>
              </a:rPr>
              <a:t>Relance automatique</a:t>
            </a:r>
          </a:p>
        </p:txBody>
      </p:sp>
      <p:sp>
        <p:nvSpPr>
          <p:cNvPr id="4" name="Sous-titre 4"/>
          <p:cNvSpPr txBox="1"/>
          <p:nvPr/>
        </p:nvSpPr>
        <p:spPr>
          <a:xfrm>
            <a:off x="661475" y="1060000"/>
            <a:ext cx="10868745" cy="320000"/>
          </a:xfrm>
          <a:prstGeom prst="rect">
            <a:avLst/>
          </a:prstGeom>
          <a:noFill/>
        </p:spPr>
        <p:txBody>
          <a:bodyPr wrap="square" lIns="0" tIns="0" rIns="0" bIns="0" rtlCol="0" anchor="t">
            <a:noAutofit/>
          </a:bodyPr>
          <a:lstStyle/>
          <a:p>
            <a:pPr marL="0" indent="0" algn="l">
              <a:lnSpc>
                <a:spcPct val="113000"/>
              </a:lnSpc>
              <a:buNone/>
            </a:pPr>
            <a:r>
              <a:rPr lang="fr-FR" sz="1100" kern="0" spc="-20">
                <a:solidFill>
                  <a:srgbClr val="272525"/>
                </a:solidFill>
                <a:latin typeface="Inter" pitchFamily="34" charset="0"/>
                <a:ea typeface="Inter" pitchFamily="34" charset="-122"/>
                <a:cs typeface="Inter" pitchFamily="34" charset="-120"/>
              </a:rPr>
              <a:t>Toutes les 15 minutes, une mission restée sans candidat revient d’elle-même sous les yeux de l’agence.</a:t>
            </a:r>
          </a:p>
        </p:txBody>
      </p:sp>
      <p:pic>
        <p:nvPicPr>
          <p:cNvPr id="5" name="Capture 5" descr="Capture de l’éditeur n8n : workflow 2, relance automatique"/>
          <p:cNvPicPr>
            <a:picLocks noChangeAspect="1"/>
          </p:cNvPicPr>
          <p:nvPr/>
        </p:nvPicPr>
        <p:blipFill>
          <a:blip r:embed="rId3"/>
          <a:stretch>
            <a:fillRect/>
          </a:stretch>
        </p:blipFill>
        <p:spPr>
          <a:xfrm>
            <a:off x="661475" y="1560000"/>
            <a:ext cx="7600000" cy="3756859"/>
          </a:xfrm>
          <a:prstGeom prst="rect">
            <a:avLst/>
          </a:prstGeom>
          <a:ln w="9525">
            <a:solidFill>
              <a:srgbClr val="C0C1D7"/>
            </a:solidFill>
          </a:ln>
        </p:spPr>
      </p:pic>
      <p:sp>
        <p:nvSpPr>
          <p:cNvPr id="6" name="Legende 6"/>
          <p:cNvSpPr txBox="1"/>
          <p:nvPr/>
        </p:nvSpPr>
        <p:spPr>
          <a:xfrm>
            <a:off x="661475" y="5443668"/>
            <a:ext cx="7600000" cy="230000"/>
          </a:xfrm>
          <a:prstGeom prst="rect">
            <a:avLst/>
          </a:prstGeom>
          <a:noFill/>
        </p:spPr>
        <p:txBody>
          <a:bodyPr wrap="square" lIns="0" tIns="0" rIns="0" bIns="0" rtlCol="0" anchor="t">
            <a:noAutofit/>
          </a:bodyPr>
          <a:lstStyle/>
          <a:p>
            <a:pPr marL="0" indent="0" algn="l">
              <a:lnSpc>
                <a:spcPct val="113000"/>
              </a:lnSpc>
              <a:buNone/>
            </a:pPr>
            <a:r>
              <a:rPr lang="fr-FR" sz="900" kern="0" spc="-20">
                <a:solidFill>
                  <a:srgbClr val="5C5A66"/>
                </a:solidFill>
                <a:latin typeface="Inter" pitchFamily="34" charset="0"/>
                <a:ea typeface="Inter" pitchFamily="34" charset="-122"/>
                <a:cs typeface="Inter" pitchFamily="34" charset="-120"/>
              </a:rPr>
              <a:t>Capture de l’éditeur n8n · planifié toutes les 15 minutes · publié</a:t>
            </a:r>
          </a:p>
        </p:txBody>
      </p:sp>
      <p:sp>
        <p:nvSpPr>
          <p:cNvPr id="7" name="Carte 7"/>
          <p:cNvSpPr/>
          <p:nvPr/>
        </p:nvSpPr>
        <p:spPr>
          <a:xfrm>
            <a:off x="8501475" y="1560000"/>
            <a:ext cx="3028745" cy="115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Trois relances, pas une de plus</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Après 24 h sans candidat, chaque relance est enregistrée par l’API et annoncée à l’agence dans Slack.</a:t>
            </a:r>
          </a:p>
        </p:txBody>
      </p:sp>
      <p:sp>
        <p:nvSpPr>
          <p:cNvPr id="8" name="Carte 8"/>
          <p:cNvSpPr/>
          <p:nvPr/>
        </p:nvSpPr>
        <p:spPr>
          <a:xfrm>
            <a:off x="8501475" y="2860000"/>
            <a:ext cx="3028745" cy="115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Puis un humain reprend la main</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À la quatrième, escalade avec @here : élargir le secteur, revoir le taux ou rappeler l’établissement.</a:t>
            </a:r>
          </a:p>
        </p:txBody>
      </p:sp>
      <p:sp>
        <p:nvSpPr>
          <p:cNvPr id="9" name="Carte 9"/>
          <p:cNvSpPr/>
          <p:nvPr/>
        </p:nvSpPr>
        <p:spPr>
          <a:xfrm>
            <a:off x="8501475" y="4160000"/>
            <a:ext cx="3028745" cy="115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Réglable sans redéployer</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Le seuil passe de 24 heures en exploitation à une minute pour une démonstration.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Confirmation candidat">
    <p:spTree>
      <p:nvGrpSpPr>
        <p:cNvPr id="1" name=""/>
        <p:cNvGrpSpPr/>
        <p:nvPr/>
      </p:nvGrpSpPr>
      <p:grpSpPr>
        <a:xfrm>
          <a:off x="0" y="0"/>
          <a:ext cx="0" cy="0"/>
          <a:chOff x="0" y="0"/>
          <a:chExt cx="0" cy="0"/>
        </a:xfrm>
      </p:grpSpPr>
      <p:sp>
        <p:nvSpPr>
          <p:cNvPr id="2" name="Badge 2"/>
          <p:cNvSpPr/>
          <p:nvPr/>
        </p:nvSpPr>
        <p:spPr>
          <a:xfrm>
            <a:off x="661475" y="536575"/>
            <a:ext cx="406003" cy="406003"/>
          </a:xfrm>
          <a:prstGeom prst="roundRect">
            <a:avLst>
              <a:gd name="adj" fmla="val 18673"/>
            </a:avLst>
          </a:prstGeom>
          <a:solidFill>
            <a:srgbClr val="DADBF1"/>
          </a:solidFill>
          <a:ln w="6350">
            <a:solidFill>
              <a:srgbClr val="C0C1D7"/>
            </a:solidFill>
          </a:ln>
        </p:spPr>
        <p:txBody>
          <a:bodyPr wrap="square" lIns="0" tIns="0" rIns="0" bIns="0" rtlCol="0" anchor="ctr">
            <a:noAutofit/>
          </a:bodyPr>
          <a:lstStyle/>
          <a:p>
            <a:pPr marL="0" indent="0" algn="ctr">
              <a:lnSpc>
                <a:spcPct val="100000"/>
              </a:lnSpc>
              <a:buNone/>
            </a:pPr>
            <a:r>
              <a:rPr lang="fr-FR" sz="1700" b="1" kern="0" spc="-46">
                <a:solidFill>
                  <a:srgbClr val="272525"/>
                </a:solidFill>
                <a:latin typeface="Inter Bold" pitchFamily="34" charset="0"/>
                <a:ea typeface="Inter Bold" pitchFamily="34" charset="-122"/>
                <a:cs typeface="Inter Bold" pitchFamily="34" charset="-120"/>
              </a:rPr>
              <a:t>3</a:t>
            </a:r>
          </a:p>
        </p:txBody>
      </p:sp>
      <p:sp>
        <p:nvSpPr>
          <p:cNvPr id="3" name="Titre 3"/>
          <p:cNvSpPr txBox="1"/>
          <p:nvPr/>
        </p:nvSpPr>
        <p:spPr>
          <a:xfrm>
            <a:off x="1250358" y="536575"/>
            <a:ext cx="10279862" cy="406003"/>
          </a:xfrm>
          <a:prstGeom prst="rect">
            <a:avLst/>
          </a:prstGeom>
          <a:noFill/>
        </p:spPr>
        <p:txBody>
          <a:bodyPr wrap="none" lIns="0" tIns="0" rIns="0" bIns="0" rtlCol="0" anchor="ctr">
            <a:noAutofit/>
          </a:bodyPr>
          <a:lstStyle/>
          <a:p>
            <a:pPr marL="0" indent="0" algn="l">
              <a:lnSpc>
                <a:spcPct val="104000"/>
              </a:lnSpc>
              <a:buNone/>
            </a:pPr>
            <a:r>
              <a:rPr lang="fr-FR" sz="2550" b="1" kern="0" spc="-77">
                <a:solidFill>
                  <a:srgbClr val="000000"/>
                </a:solidFill>
                <a:latin typeface="Inter Bold" pitchFamily="34" charset="0"/>
                <a:ea typeface="Inter Bold" pitchFamily="34" charset="-122"/>
                <a:cs typeface="Inter Bold" pitchFamily="34" charset="-120"/>
              </a:rPr>
              <a:t>Confirmation candidat</a:t>
            </a:r>
          </a:p>
        </p:txBody>
      </p:sp>
      <p:sp>
        <p:nvSpPr>
          <p:cNvPr id="4" name="Sous-titre 4"/>
          <p:cNvSpPr txBox="1"/>
          <p:nvPr/>
        </p:nvSpPr>
        <p:spPr>
          <a:xfrm>
            <a:off x="661475" y="1060000"/>
            <a:ext cx="10868745" cy="320000"/>
          </a:xfrm>
          <a:prstGeom prst="rect">
            <a:avLst/>
          </a:prstGeom>
          <a:noFill/>
        </p:spPr>
        <p:txBody>
          <a:bodyPr wrap="square" lIns="0" tIns="0" rIns="0" bIns="0" rtlCol="0" anchor="t">
            <a:noAutofit/>
          </a:bodyPr>
          <a:lstStyle/>
          <a:p>
            <a:pPr marL="0" indent="0" algn="l">
              <a:lnSpc>
                <a:spcPct val="113000"/>
              </a:lnSpc>
              <a:buNone/>
            </a:pPr>
            <a:r>
              <a:rPr lang="fr-FR" sz="1100" kern="0" spc="-20">
                <a:solidFill>
                  <a:srgbClr val="272525"/>
                </a:solidFill>
                <a:latin typeface="Inter" pitchFamily="34" charset="0"/>
                <a:ea typeface="Inter" pitchFamily="34" charset="-122"/>
                <a:cs typeface="Inter" pitchFamily="34" charset="-120"/>
              </a:rPr>
              <a:t>Dès qu’une mission est pourvue, le candidat retenu reçoit un écrit, et l’agence en garde la trace.</a:t>
            </a:r>
          </a:p>
        </p:txBody>
      </p:sp>
      <p:pic>
        <p:nvPicPr>
          <p:cNvPr id="5" name="Capture 5" descr="Capture de l’éditeur n8n : workflow 3, confirmation candidat"/>
          <p:cNvPicPr>
            <a:picLocks noChangeAspect="1"/>
          </p:cNvPicPr>
          <p:nvPr/>
        </p:nvPicPr>
        <p:blipFill>
          <a:blip r:embed="rId3"/>
          <a:stretch>
            <a:fillRect/>
          </a:stretch>
        </p:blipFill>
        <p:spPr>
          <a:xfrm>
            <a:off x="661475" y="1560000"/>
            <a:ext cx="7600000" cy="2613610"/>
          </a:xfrm>
          <a:prstGeom prst="rect">
            <a:avLst/>
          </a:prstGeom>
          <a:ln w="9525">
            <a:solidFill>
              <a:srgbClr val="C0C1D7"/>
            </a:solidFill>
          </a:ln>
        </p:spPr>
      </p:pic>
      <p:sp>
        <p:nvSpPr>
          <p:cNvPr id="6" name="Legende 6"/>
          <p:cNvSpPr txBox="1"/>
          <p:nvPr/>
        </p:nvSpPr>
        <p:spPr>
          <a:xfrm>
            <a:off x="661475" y="4283610"/>
            <a:ext cx="7600000" cy="230000"/>
          </a:xfrm>
          <a:prstGeom prst="rect">
            <a:avLst/>
          </a:prstGeom>
          <a:noFill/>
        </p:spPr>
        <p:txBody>
          <a:bodyPr wrap="square" lIns="0" tIns="0" rIns="0" bIns="0" rtlCol="0" anchor="t">
            <a:noAutofit/>
          </a:bodyPr>
          <a:lstStyle/>
          <a:p>
            <a:pPr marL="0" indent="0" algn="l">
              <a:lnSpc>
                <a:spcPct val="113000"/>
              </a:lnSpc>
              <a:buNone/>
            </a:pPr>
            <a:r>
              <a:rPr lang="fr-FR" sz="900" kern="0" spc="-20">
                <a:solidFill>
                  <a:srgbClr val="5C5A66"/>
                </a:solidFill>
                <a:latin typeface="Inter" pitchFamily="34" charset="0"/>
                <a:ea typeface="Inter" pitchFamily="34" charset="-122"/>
                <a:cs typeface="Inter" pitchFamily="34" charset="-120"/>
              </a:rPr>
              <a:t>Capture de l’éditeur n8n · appelé par le workflow 1</a:t>
            </a:r>
          </a:p>
        </p:txBody>
      </p:sp>
      <p:sp>
        <p:nvSpPr>
          <p:cNvPr id="7" name="Carte 7"/>
          <p:cNvSpPr/>
          <p:nvPr/>
        </p:nvSpPr>
        <p:spPr>
          <a:xfrm>
            <a:off x="8501475" y="1560000"/>
            <a:ext cx="3028745" cy="130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Appelé par le workflow 1</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Une garde vérifie qu’un candidat est bien retenu : une annulation ne déclenche jamais de confirmation.</a:t>
            </a:r>
          </a:p>
        </p:txBody>
      </p:sp>
      <p:sp>
        <p:nvSpPr>
          <p:cNvPr id="8" name="Carte 8"/>
          <p:cNvSpPr/>
          <p:nvPr/>
        </p:nvSpPr>
        <p:spPr>
          <a:xfrm>
            <a:off x="8501475" y="3010000"/>
            <a:ext cx="3028745" cy="130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L’e-mail part de l’application</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L’API expédie, car elle seule connaît les adresses. n8n ne manipule que des références pseudonymes.</a:t>
            </a:r>
          </a:p>
        </p:txBody>
      </p:sp>
      <p:sp>
        <p:nvSpPr>
          <p:cNvPr id="9" name="Carte 9"/>
          <p:cNvSpPr/>
          <p:nvPr/>
        </p:nvSpPr>
        <p:spPr>
          <a:xfrm>
            <a:off x="8501475" y="4460000"/>
            <a:ext cx="3028745" cy="1300000"/>
          </a:xfrm>
          <a:prstGeom prst="roundRect">
            <a:avLst>
              <a:gd name="adj" fmla="val 7000"/>
            </a:avLst>
          </a:prstGeom>
          <a:solidFill>
            <a:srgbClr val="DADBF1"/>
          </a:solidFill>
          <a:ln w="6350">
            <a:solidFill>
              <a:srgbClr val="C0C1D7"/>
            </a:solidFill>
          </a:ln>
        </p:spPr>
        <p:txBody>
          <a:bodyPr wrap="square" lIns="137160" tIns="137160" rIns="137160" bIns="137160" rtlCol="0" anchor="ctr">
            <a:noAutofit/>
          </a:bodyPr>
          <a:lstStyle/>
          <a:p>
            <a:pPr marL="0" indent="0" algn="l">
              <a:lnSpc>
                <a:spcPct val="104000"/>
              </a:lnSpc>
              <a:spcAft>
                <a:spcPts val="500"/>
              </a:spcAft>
              <a:buNone/>
            </a:pPr>
            <a:r>
              <a:rPr lang="fr-FR" sz="1250" b="1" kern="0" spc="-38">
                <a:solidFill>
                  <a:srgbClr val="272525"/>
                </a:solidFill>
                <a:latin typeface="Inter Bold" pitchFamily="34" charset="0"/>
                <a:ea typeface="Inter Bold" pitchFamily="34" charset="-122"/>
                <a:cs typeface="Inter Bold" pitchFamily="34" charset="-120"/>
              </a:rPr>
              <a:t>Chaque envoi laisse une trace</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Une ligne dans le journal Airtable, succès ou échec, que l’agence lit sans ouvrir n8n.</a:t>
            </a:r>
          </a:p>
        </p:txBody>
      </p:sp>
      <p:pic>
        <p:nvPicPr>
          <p:cNvPr id="10" name="Capture 10" descr="E-mail « Votre mission est confirmée » reçu par la candidate retenue"/>
          <p:cNvPicPr>
            <a:picLocks noChangeAspect="1"/>
          </p:cNvPicPr>
          <p:nvPr/>
        </p:nvPicPr>
        <p:blipFill>
          <a:blip r:embed="rId4"/>
          <a:stretch>
            <a:fillRect/>
          </a:stretch>
        </p:blipFill>
        <p:spPr>
          <a:xfrm>
            <a:off x="661475" y="4613610"/>
            <a:ext cx="1965879" cy="1586390"/>
          </a:xfrm>
          <a:prstGeom prst="rect">
            <a:avLst/>
          </a:prstGeom>
          <a:ln w="9525">
            <a:solidFill>
              <a:srgbClr val="C0C1D7"/>
            </a:solidFill>
          </a:ln>
        </p:spPr>
      </p:pic>
      <p:sp>
        <p:nvSpPr>
          <p:cNvPr id="11" name="Preuve 11"/>
          <p:cNvSpPr txBox="1"/>
          <p:nvPr/>
        </p:nvSpPr>
        <p:spPr>
          <a:xfrm>
            <a:off x="2855954" y="5076805"/>
            <a:ext cx="5405521" cy="660000"/>
          </a:xfrm>
          <a:prstGeom prst="rect">
            <a:avLst/>
          </a:prstGeom>
          <a:noFill/>
        </p:spPr>
        <p:txBody>
          <a:bodyPr wrap="square" lIns="0" tIns="0" rIns="0" bIns="0" rtlCol="0" anchor="ctr">
            <a:noAutofit/>
          </a:bodyPr>
          <a:lstStyle/>
          <a:p>
            <a:pPr marL="0" indent="0" algn="l">
              <a:lnSpc>
                <a:spcPct val="113000"/>
              </a:lnSpc>
              <a:spcAft>
                <a:spcPts val="300"/>
              </a:spcAft>
              <a:buNone/>
            </a:pPr>
            <a:r>
              <a:rPr lang="fr-FR" sz="1000" b="1" kern="0" spc="-20">
                <a:solidFill>
                  <a:srgbClr val="272525"/>
                </a:solidFill>
                <a:latin typeface="Inter Bold" pitchFamily="34" charset="0"/>
                <a:ea typeface="Inter Bold" pitchFamily="34" charset="-122"/>
                <a:cs typeface="Inter Bold" pitchFamily="34" charset="-120"/>
              </a:rPr>
              <a:t>L’e-mail reçu</a:t>
            </a:r>
          </a:p>
          <a:p>
            <a:pPr marL="0" indent="0" algn="l">
              <a:lnSpc>
                <a:spcPct val="113000"/>
              </a:lnSpc>
              <a:buNone/>
            </a:pPr>
            <a:r>
              <a:rPr lang="fr-FR" sz="1000" kern="0" spc="-20">
                <a:solidFill>
                  <a:srgbClr val="272525"/>
                </a:solidFill>
                <a:latin typeface="Inter" pitchFamily="34" charset="0"/>
                <a:ea typeface="Inter" pitchFamily="34" charset="-122"/>
                <a:cs typeface="Inter" pitchFamily="34" charset="-120"/>
              </a:rPr>
              <a:t>par la candidate retenue, lors d’un test de bout en bout.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661475" y="538659"/>
            <a:ext cx="10868745"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Conformité</a:t>
            </a:r>
            <a:endParaRPr lang="en-US" sz="3700"/>
          </a:p>
        </p:txBody>
      </p:sp>
      <p:sp>
        <p:nvSpPr>
          <p:cNvPr id="3" name="Shape 1"/>
          <p:cNvSpPr/>
          <p:nvPr/>
        </p:nvSpPr>
        <p:spPr>
          <a:xfrm>
            <a:off x="661475" y="1507331"/>
            <a:ext cx="3496877" cy="2462709"/>
          </a:xfrm>
          <a:prstGeom prst="roundRect">
            <a:avLst>
              <a:gd name="adj" fmla="val 3224"/>
            </a:avLst>
          </a:prstGeom>
          <a:solidFill>
            <a:srgbClr val="DADBF1"/>
          </a:solidFill>
          <a:ln w="6350">
            <a:solidFill>
              <a:srgbClr val="C0C1D7"/>
            </a:solidFill>
            <a:prstDash val="solid"/>
          </a:ln>
        </p:spPr>
        <p:txBody>
          <a:bodyPr/>
          <a:lstStyle/>
          <a:p>
            <a:endParaRPr lang="fr-FR"/>
          </a:p>
        </p:txBody>
      </p:sp>
      <p:sp>
        <p:nvSpPr>
          <p:cNvPr id="4" name="Shape 2"/>
          <p:cNvSpPr/>
          <p:nvPr/>
        </p:nvSpPr>
        <p:spPr>
          <a:xfrm>
            <a:off x="856832" y="1702693"/>
            <a:ext cx="567021" cy="567035"/>
          </a:xfrm>
          <a:prstGeom prst="ellipse">
            <a:avLst/>
          </a:prstGeom>
          <a:solidFill>
            <a:srgbClr val="4950BC"/>
          </a:solidFill>
          <a:ln/>
        </p:spPr>
        <p:txBody>
          <a:bodyPr/>
          <a:lstStyle/>
          <a:p>
            <a:endParaRPr lang="fr-FR"/>
          </a:p>
        </p:txBody>
      </p:sp>
      <p:pic>
        <p:nvPicPr>
          <p:cNvPr id="5"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12800" y="1858566"/>
            <a:ext cx="255085" cy="255091"/>
          </a:xfrm>
          <a:prstGeom prst="rect">
            <a:avLst/>
          </a:prstGeom>
        </p:spPr>
      </p:pic>
      <p:sp>
        <p:nvSpPr>
          <p:cNvPr id="6" name="Text 3"/>
          <p:cNvSpPr/>
          <p:nvPr/>
        </p:nvSpPr>
        <p:spPr>
          <a:xfrm>
            <a:off x="856832" y="2458740"/>
            <a:ext cx="3106164"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RGPD</a:t>
            </a:r>
            <a:endParaRPr lang="en-US" sz="1850"/>
          </a:p>
        </p:txBody>
      </p:sp>
      <p:sp>
        <p:nvSpPr>
          <p:cNvPr id="7" name="Text 4"/>
          <p:cNvSpPr/>
          <p:nvPr/>
        </p:nvSpPr>
        <p:spPr>
          <a:xfrm>
            <a:off x="856832" y="2867422"/>
            <a:ext cx="3106164" cy="907256"/>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Base légale documentée, durée de conservation annoncée, mentions légales en ligne.</a:t>
            </a:r>
            <a:endParaRPr lang="en-US" sz="1450"/>
          </a:p>
        </p:txBody>
      </p:sp>
      <p:sp>
        <p:nvSpPr>
          <p:cNvPr id="8" name="Shape 5"/>
          <p:cNvSpPr/>
          <p:nvPr/>
        </p:nvSpPr>
        <p:spPr>
          <a:xfrm>
            <a:off x="4347359" y="1507331"/>
            <a:ext cx="3496877" cy="2462709"/>
          </a:xfrm>
          <a:prstGeom prst="roundRect">
            <a:avLst>
              <a:gd name="adj" fmla="val 3224"/>
            </a:avLst>
          </a:prstGeom>
          <a:solidFill>
            <a:srgbClr val="DADBF1"/>
          </a:solidFill>
          <a:ln w="6350">
            <a:solidFill>
              <a:srgbClr val="C0C1D7"/>
            </a:solidFill>
            <a:prstDash val="solid"/>
          </a:ln>
        </p:spPr>
        <p:txBody>
          <a:bodyPr/>
          <a:lstStyle/>
          <a:p>
            <a:endParaRPr lang="fr-FR"/>
          </a:p>
        </p:txBody>
      </p:sp>
      <p:sp>
        <p:nvSpPr>
          <p:cNvPr id="9" name="Shape 6"/>
          <p:cNvSpPr/>
          <p:nvPr/>
        </p:nvSpPr>
        <p:spPr>
          <a:xfrm>
            <a:off x="4542716" y="1702693"/>
            <a:ext cx="567021" cy="567035"/>
          </a:xfrm>
          <a:prstGeom prst="ellipse">
            <a:avLst/>
          </a:prstGeom>
          <a:solidFill>
            <a:srgbClr val="4950BC"/>
          </a:solidFill>
          <a:ln/>
        </p:spPr>
        <p:txBody>
          <a:bodyPr/>
          <a:lstStyle/>
          <a:p>
            <a:endParaRPr lang="fr-FR"/>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98684" y="1858566"/>
            <a:ext cx="255085" cy="255091"/>
          </a:xfrm>
          <a:prstGeom prst="rect">
            <a:avLst/>
          </a:prstGeom>
        </p:spPr>
      </p:pic>
      <p:sp>
        <p:nvSpPr>
          <p:cNvPr id="11" name="Text 7"/>
          <p:cNvSpPr/>
          <p:nvPr/>
        </p:nvSpPr>
        <p:spPr>
          <a:xfrm>
            <a:off x="4542716" y="2458740"/>
            <a:ext cx="3106164"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Code du travail</a:t>
            </a:r>
            <a:endParaRPr lang="en-US" sz="1850"/>
          </a:p>
        </p:txBody>
      </p:sp>
      <p:sp>
        <p:nvSpPr>
          <p:cNvPr id="12" name="Text 8"/>
          <p:cNvSpPr/>
          <p:nvPr/>
        </p:nvSpPr>
        <p:spPr>
          <a:xfrm>
            <a:off x="4542716" y="2867422"/>
            <a:ext cx="3106164"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Mentions obligatoires du contrat de mission et suivi du cumul de durée.</a:t>
            </a:r>
            <a:endParaRPr lang="en-US" sz="1450"/>
          </a:p>
        </p:txBody>
      </p:sp>
      <p:sp>
        <p:nvSpPr>
          <p:cNvPr id="13" name="Shape 9"/>
          <p:cNvSpPr/>
          <p:nvPr/>
        </p:nvSpPr>
        <p:spPr>
          <a:xfrm>
            <a:off x="8033244" y="1507331"/>
            <a:ext cx="3496877" cy="2462709"/>
          </a:xfrm>
          <a:prstGeom prst="roundRect">
            <a:avLst>
              <a:gd name="adj" fmla="val 3224"/>
            </a:avLst>
          </a:prstGeom>
          <a:solidFill>
            <a:srgbClr val="DADBF1"/>
          </a:solidFill>
          <a:ln w="6350">
            <a:solidFill>
              <a:srgbClr val="C0C1D7"/>
            </a:solidFill>
            <a:prstDash val="solid"/>
          </a:ln>
        </p:spPr>
        <p:txBody>
          <a:bodyPr/>
          <a:lstStyle/>
          <a:p>
            <a:endParaRPr lang="fr-FR"/>
          </a:p>
        </p:txBody>
      </p:sp>
      <p:sp>
        <p:nvSpPr>
          <p:cNvPr id="14" name="Shape 10"/>
          <p:cNvSpPr/>
          <p:nvPr/>
        </p:nvSpPr>
        <p:spPr>
          <a:xfrm>
            <a:off x="8228600" y="1702693"/>
            <a:ext cx="567021" cy="567035"/>
          </a:xfrm>
          <a:prstGeom prst="ellipse">
            <a:avLst/>
          </a:prstGeom>
          <a:solidFill>
            <a:srgbClr val="4950BC"/>
          </a:solidFill>
          <a:ln/>
        </p:spPr>
        <p:txBody>
          <a:bodyPr/>
          <a:lstStyle/>
          <a:p>
            <a:endParaRPr lang="fr-FR"/>
          </a:p>
        </p:txBody>
      </p:sp>
      <p:pic>
        <p:nvPicPr>
          <p:cNvPr id="15"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84568" y="1858566"/>
            <a:ext cx="255085" cy="255091"/>
          </a:xfrm>
          <a:prstGeom prst="rect">
            <a:avLst/>
          </a:prstGeom>
        </p:spPr>
      </p:pic>
      <p:sp>
        <p:nvSpPr>
          <p:cNvPr id="16" name="Text 11"/>
          <p:cNvSpPr/>
          <p:nvPr/>
        </p:nvSpPr>
        <p:spPr>
          <a:xfrm>
            <a:off x="8228600" y="2458740"/>
            <a:ext cx="3106164"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Accessibilité RGAA</a:t>
            </a:r>
            <a:endParaRPr lang="en-US" sz="1850"/>
          </a:p>
        </p:txBody>
      </p:sp>
      <p:sp>
        <p:nvSpPr>
          <p:cNvPr id="17" name="Text 12"/>
          <p:cNvSpPr/>
          <p:nvPr/>
        </p:nvSpPr>
        <p:spPr>
          <a:xfrm>
            <a:off x="8228600" y="2867422"/>
            <a:ext cx="3106164" cy="907256"/>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Contrastes, textes alternatifs, navigation au clavier, structure sémantique.</a:t>
            </a:r>
            <a:endParaRPr lang="en-US" sz="1450"/>
          </a:p>
        </p:txBody>
      </p:sp>
      <p:sp>
        <p:nvSpPr>
          <p:cNvPr id="18" name="Shape 13"/>
          <p:cNvSpPr/>
          <p:nvPr/>
        </p:nvSpPr>
        <p:spPr>
          <a:xfrm>
            <a:off x="661475" y="4159052"/>
            <a:ext cx="5339820" cy="2160290"/>
          </a:xfrm>
          <a:prstGeom prst="roundRect">
            <a:avLst>
              <a:gd name="adj" fmla="val 3675"/>
            </a:avLst>
          </a:prstGeom>
          <a:solidFill>
            <a:srgbClr val="DADBF1"/>
          </a:solidFill>
          <a:ln w="6350">
            <a:solidFill>
              <a:srgbClr val="C0C1D7"/>
            </a:solidFill>
            <a:prstDash val="solid"/>
          </a:ln>
        </p:spPr>
        <p:txBody>
          <a:bodyPr/>
          <a:lstStyle/>
          <a:p>
            <a:endParaRPr lang="fr-FR"/>
          </a:p>
        </p:txBody>
      </p:sp>
      <p:sp>
        <p:nvSpPr>
          <p:cNvPr id="19" name="Shape 14"/>
          <p:cNvSpPr/>
          <p:nvPr/>
        </p:nvSpPr>
        <p:spPr>
          <a:xfrm>
            <a:off x="856832" y="4354413"/>
            <a:ext cx="567021" cy="567035"/>
          </a:xfrm>
          <a:prstGeom prst="ellipse">
            <a:avLst/>
          </a:prstGeom>
          <a:solidFill>
            <a:srgbClr val="4950BC"/>
          </a:solidFill>
          <a:ln/>
        </p:spPr>
        <p:txBody>
          <a:bodyPr/>
          <a:lstStyle/>
          <a:p>
            <a:endParaRPr lang="fr-FR"/>
          </a:p>
        </p:txBody>
      </p:sp>
      <p:pic>
        <p:nvPicPr>
          <p:cNvPr id="2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12800" y="4510286"/>
            <a:ext cx="255085" cy="255091"/>
          </a:xfrm>
          <a:prstGeom prst="rect">
            <a:avLst/>
          </a:prstGeom>
        </p:spPr>
      </p:pic>
      <p:sp>
        <p:nvSpPr>
          <p:cNvPr id="21" name="Text 15"/>
          <p:cNvSpPr/>
          <p:nvPr/>
        </p:nvSpPr>
        <p:spPr>
          <a:xfrm>
            <a:off x="856832" y="5110460"/>
            <a:ext cx="4949106"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Éco-conception RGESN</a:t>
            </a:r>
            <a:endParaRPr lang="en-US" sz="1850"/>
          </a:p>
        </p:txBody>
      </p:sp>
      <p:sp>
        <p:nvSpPr>
          <p:cNvPr id="22" name="Text 16"/>
          <p:cNvSpPr/>
          <p:nvPr/>
        </p:nvSpPr>
        <p:spPr>
          <a:xfrm>
            <a:off x="856832" y="5519142"/>
            <a:ext cx="4949106"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Rendu serveur, indicateurs précalculés, images sobres, avec mesure avant et après.</a:t>
            </a:r>
            <a:endParaRPr lang="en-US" sz="1450"/>
          </a:p>
        </p:txBody>
      </p:sp>
      <p:sp>
        <p:nvSpPr>
          <p:cNvPr id="23" name="Shape 17"/>
          <p:cNvSpPr/>
          <p:nvPr/>
        </p:nvSpPr>
        <p:spPr>
          <a:xfrm>
            <a:off x="6190301" y="4159052"/>
            <a:ext cx="5339820" cy="2160290"/>
          </a:xfrm>
          <a:prstGeom prst="roundRect">
            <a:avLst>
              <a:gd name="adj" fmla="val 3675"/>
            </a:avLst>
          </a:prstGeom>
          <a:solidFill>
            <a:srgbClr val="DADBF1"/>
          </a:solidFill>
          <a:ln w="6350">
            <a:solidFill>
              <a:srgbClr val="C0C1D7"/>
            </a:solidFill>
            <a:prstDash val="solid"/>
          </a:ln>
        </p:spPr>
        <p:txBody>
          <a:bodyPr/>
          <a:lstStyle/>
          <a:p>
            <a:endParaRPr lang="fr-FR"/>
          </a:p>
        </p:txBody>
      </p:sp>
      <p:sp>
        <p:nvSpPr>
          <p:cNvPr id="24" name="Shape 18"/>
          <p:cNvSpPr/>
          <p:nvPr/>
        </p:nvSpPr>
        <p:spPr>
          <a:xfrm>
            <a:off x="6385658" y="4354413"/>
            <a:ext cx="567021" cy="567035"/>
          </a:xfrm>
          <a:prstGeom prst="ellipse">
            <a:avLst/>
          </a:prstGeom>
          <a:solidFill>
            <a:srgbClr val="4950BC"/>
          </a:solidFill>
          <a:ln/>
        </p:spPr>
        <p:txBody>
          <a:bodyPr/>
          <a:lstStyle/>
          <a:p>
            <a:endParaRPr lang="fr-FR"/>
          </a:p>
        </p:txBody>
      </p:sp>
      <p:pic>
        <p:nvPicPr>
          <p:cNvPr id="2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541626" y="4510286"/>
            <a:ext cx="255085" cy="255091"/>
          </a:xfrm>
          <a:prstGeom prst="rect">
            <a:avLst/>
          </a:prstGeom>
        </p:spPr>
      </p:pic>
      <p:sp>
        <p:nvSpPr>
          <p:cNvPr id="26" name="Text 19"/>
          <p:cNvSpPr/>
          <p:nvPr/>
        </p:nvSpPr>
        <p:spPr>
          <a:xfrm>
            <a:off x="6385658" y="5110460"/>
            <a:ext cx="4949106"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Référencement</a:t>
            </a:r>
            <a:endParaRPr lang="en-US" sz="1850"/>
          </a:p>
        </p:txBody>
      </p:sp>
      <p:sp>
        <p:nvSpPr>
          <p:cNvPr id="27" name="Text 20"/>
          <p:cNvSpPr/>
          <p:nvPr/>
        </p:nvSpPr>
        <p:spPr>
          <a:xfrm>
            <a:off x="6385658" y="5519142"/>
            <a:ext cx="4949106"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schema.org, liens canoniques, hiérarchie de titres et plan du site sur les pages publiques.</a:t>
            </a:r>
            <a:endParaRPr lang="en-US" sz="14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661475" y="752277"/>
            <a:ext cx="10868745"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Ce que le pilotage nous a appris</a:t>
            </a:r>
            <a:endParaRPr lang="en-US" sz="3700"/>
          </a:p>
        </p:txBody>
      </p:sp>
      <p:pic>
        <p:nvPicPr>
          <p:cNvPr id="3" name="Image 0" descr="preencoded.png"/>
          <p:cNvPicPr>
            <a:picLocks noChangeAspect="1"/>
          </p:cNvPicPr>
          <p:nvPr/>
        </p:nvPicPr>
        <p:blipFill>
          <a:blip r:embed="rId3"/>
          <a:stretch>
            <a:fillRect/>
          </a:stretch>
        </p:blipFill>
        <p:spPr>
          <a:xfrm>
            <a:off x="661475" y="1839020"/>
            <a:ext cx="5203794" cy="3745805"/>
          </a:xfrm>
          <a:prstGeom prst="rect">
            <a:avLst/>
          </a:prstGeom>
        </p:spPr>
      </p:pic>
      <p:sp>
        <p:nvSpPr>
          <p:cNvPr id="4" name="Text 1"/>
          <p:cNvSpPr/>
          <p:nvPr/>
        </p:nvSpPr>
        <p:spPr>
          <a:xfrm>
            <a:off x="6332776" y="1796455"/>
            <a:ext cx="5203794" cy="4139208"/>
          </a:xfrm>
          <a:prstGeom prst="rect">
            <a:avLst/>
          </a:prstGeom>
          <a:noFill/>
          <a:ln/>
        </p:spPr>
        <p:txBody>
          <a:bodyPr wrap="square" lIns="0" tIns="0" rIns="0" bIns="0" rtlCol="0" anchor="t">
            <a:normAutofit fontScale="92500"/>
          </a:bodyPr>
          <a:lstStyle/>
          <a:p>
            <a:pPr marL="0" indent="0" algn="l">
              <a:lnSpc>
                <a:spcPct val="133000"/>
              </a:lnSpc>
              <a:spcAft>
                <a:spcPts val="1300"/>
              </a:spcAft>
              <a:buNone/>
            </a:pPr>
            <a:r>
              <a:rPr lang="en-US" sz="1450" kern="0" spc="-30">
                <a:solidFill>
                  <a:srgbClr val="272525"/>
                </a:solidFill>
                <a:latin typeface="Inter" pitchFamily="34" charset="0"/>
                <a:ea typeface="Inter" pitchFamily="34" charset="-122"/>
                <a:cs typeface="Inter" pitchFamily="34" charset="-120"/>
              </a:rPr>
              <a:t>Notre premier chiffrage affichait </a:t>
            </a:r>
            <a:r>
              <a:rPr lang="en-US" sz="1450" b="1" kern="0" spc="-30">
                <a:solidFill>
                  <a:srgbClr val="272525"/>
                </a:solidFill>
                <a:latin typeface="Inter Bold" pitchFamily="34" charset="0"/>
                <a:ea typeface="Inter Bold" pitchFamily="34" charset="-122"/>
                <a:cs typeface="Inter Bold" pitchFamily="34" charset="-120"/>
              </a:rPr>
              <a:t>48 jours-homme planifiés sur 52,5 disponibles</a:t>
            </a:r>
            <a:r>
              <a:rPr lang="en-US" sz="1450" kern="0" spc="-30">
                <a:solidFill>
                  <a:srgbClr val="272525"/>
                </a:solidFill>
                <a:latin typeface="Inter" pitchFamily="34" charset="0"/>
                <a:ea typeface="Inter" pitchFamily="34" charset="-122"/>
                <a:cs typeface="Inter" pitchFamily="34" charset="-120"/>
              </a:rPr>
              <a:t>, soit 91 % d'occupation. Rassurant, et trompeur.</a:t>
            </a:r>
            <a:endParaRPr lang="en-US" sz="1450"/>
          </a:p>
          <a:p>
            <a:pPr marL="0" indent="0" algn="l">
              <a:lnSpc>
                <a:spcPct val="133000"/>
              </a:lnSpc>
              <a:spcAft>
                <a:spcPts val="1300"/>
              </a:spcAft>
              <a:buNone/>
            </a:pPr>
            <a:r>
              <a:rPr lang="en-US" sz="1450" kern="0" spc="-30">
                <a:solidFill>
                  <a:srgbClr val="272525"/>
                </a:solidFill>
                <a:latin typeface="Inter" pitchFamily="34" charset="0"/>
                <a:ea typeface="Inter" pitchFamily="34" charset="-122"/>
                <a:cs typeface="Inter" pitchFamily="34" charset="-120"/>
              </a:rPr>
              <a:t>En ventilant la charge par personne, le développeur ressortait à </a:t>
            </a:r>
            <a:r>
              <a:rPr lang="en-US" sz="1450" b="1" kern="0" spc="-30">
                <a:solidFill>
                  <a:srgbClr val="272525"/>
                </a:solidFill>
                <a:latin typeface="Inter Bold" pitchFamily="34" charset="0"/>
                <a:ea typeface="Inter Bold" pitchFamily="34" charset="-122"/>
                <a:cs typeface="Inter Bold" pitchFamily="34" charset="-120"/>
              </a:rPr>
              <a:t>148 % de sa capacité</a:t>
            </a:r>
            <a:r>
              <a:rPr lang="en-US" sz="1450" kern="0" spc="-30">
                <a:solidFill>
                  <a:srgbClr val="272525"/>
                </a:solidFill>
                <a:latin typeface="Inter" pitchFamily="34" charset="0"/>
                <a:ea typeface="Inter" pitchFamily="34" charset="-122"/>
                <a:cs typeface="Inter" pitchFamily="34" charset="-120"/>
              </a:rPr>
              <a:t>. Une moyenne globale masquait une allocation impossible.</a:t>
            </a:r>
            <a:endParaRPr lang="en-US" sz="1450"/>
          </a:p>
          <a:p>
            <a:pPr marL="0" indent="0" algn="l">
              <a:lnSpc>
                <a:spcPct val="133000"/>
              </a:lnSpc>
              <a:spcAft>
                <a:spcPts val="1300"/>
              </a:spcAft>
              <a:buNone/>
            </a:pPr>
            <a:r>
              <a:rPr lang="en-US" sz="1450" kern="0" spc="-30">
                <a:solidFill>
                  <a:srgbClr val="272525"/>
                </a:solidFill>
                <a:latin typeface="Inter" pitchFamily="34" charset="0"/>
                <a:ea typeface="Inter" pitchFamily="34" charset="-122"/>
                <a:cs typeface="Inter" pitchFamily="34" charset="-120"/>
              </a:rPr>
              <a:t>Nous avons réaffecté huit tâches vers le product owner, le PMO et la business analyst. Le développeur est redescendu à </a:t>
            </a:r>
            <a:r>
              <a:rPr lang="en-US" sz="1450" b="1" kern="0" spc="-30">
                <a:solidFill>
                  <a:srgbClr val="272525"/>
                </a:solidFill>
                <a:latin typeface="Inter Bold" pitchFamily="34" charset="0"/>
                <a:ea typeface="Inter Bold" pitchFamily="34" charset="-122"/>
                <a:cs typeface="Inter Bold" pitchFamily="34" charset="-120"/>
              </a:rPr>
              <a:t>93 %</a:t>
            </a:r>
            <a:r>
              <a:rPr lang="en-US" sz="1450" kern="0" spc="-30">
                <a:solidFill>
                  <a:srgbClr val="272525"/>
                </a:solidFill>
                <a:latin typeface="Inter" pitchFamily="34" charset="0"/>
                <a:ea typeface="Inter" pitchFamily="34" charset="-122"/>
                <a:cs typeface="Inter" pitchFamily="34" charset="-120"/>
              </a:rPr>
              <a:t>.</a:t>
            </a:r>
            <a:endParaRPr lang="en-US" sz="1450"/>
          </a:p>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À l'arrivée, </a:t>
            </a:r>
            <a:r>
              <a:rPr lang="en-US" sz="1450" b="1" kern="0" spc="-30">
                <a:solidFill>
                  <a:srgbClr val="272525"/>
                </a:solidFill>
                <a:latin typeface="Inter Bold" pitchFamily="34" charset="0"/>
                <a:ea typeface="Inter Bold" pitchFamily="34" charset="-122"/>
                <a:cs typeface="Inter Bold" pitchFamily="34" charset="-120"/>
              </a:rPr>
              <a:t>281,25 heures réellement consommées</a:t>
            </a:r>
            <a:r>
              <a:rPr lang="en-US" sz="1450" kern="0" spc="-30">
                <a:solidFill>
                  <a:srgbClr val="272525"/>
                </a:solidFill>
                <a:latin typeface="Inter" pitchFamily="34" charset="0"/>
                <a:ea typeface="Inter" pitchFamily="34" charset="-122"/>
                <a:cs typeface="Inter" pitchFamily="34" charset="-120"/>
              </a:rPr>
              <a:t> pour 300 heures estimées, soit un écart de </a:t>
            </a:r>
            <a:r>
              <a:rPr lang="en-US" sz="1450" b="1" kern="0" spc="-30">
                <a:solidFill>
                  <a:srgbClr val="272525"/>
                </a:solidFill>
                <a:latin typeface="Inter Bold" pitchFamily="34" charset="0"/>
                <a:ea typeface="Inter Bold" pitchFamily="34" charset="-122"/>
                <a:cs typeface="Inter Bold" pitchFamily="34" charset="-120"/>
              </a:rPr>
              <a:t>6,25 % en notre faveur</a:t>
            </a:r>
            <a:r>
              <a:rPr lang="en-US" sz="1450" kern="0" spc="-30">
                <a:solidFill>
                  <a:srgbClr val="272525"/>
                </a:solidFill>
                <a:latin typeface="Inter" pitchFamily="34" charset="0"/>
                <a:ea typeface="Inter" pitchFamily="34" charset="-122"/>
                <a:cs typeface="Inter" pitchFamily="34" charset="-120"/>
              </a:rPr>
              <a:t>. Nous avons livré l'intégralité du périmètre obligatoire et coupé les trois fonctionnalités optionnelles, dans l'ordre décidé à froid au go/nogo.</a:t>
            </a:r>
            <a:endParaRPr lang="en-US" sz="1450"/>
          </a:p>
        </p:txBody>
      </p:sp>
    </p:spTree>
    <p:extLst>
      <p:ext uri="{BB962C8B-B14F-4D97-AF65-F5344CB8AC3E}">
        <p14:creationId xmlns:p14="http://schemas.microsoft.com/office/powerpoint/2010/main" val="1424247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661475" y="1002010"/>
            <a:ext cx="10868745"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Trois écarts assumés</a:t>
            </a:r>
            <a:endParaRPr lang="en-US" sz="370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61475" y="1970683"/>
            <a:ext cx="3496877" cy="2916634"/>
          </a:xfrm>
          <a:prstGeom prst="rect">
            <a:avLst/>
          </a:prstGeom>
        </p:spPr>
      </p:pic>
      <p:sp>
        <p:nvSpPr>
          <p:cNvPr id="4" name="Text 1"/>
          <p:cNvSpPr/>
          <p:nvPr/>
        </p:nvSpPr>
        <p:spPr>
          <a:xfrm>
            <a:off x="2268183" y="2099171"/>
            <a:ext cx="283461" cy="354409"/>
          </a:xfrm>
          <a:prstGeom prst="rect">
            <a:avLst/>
          </a:prstGeom>
          <a:noFill/>
          <a:ln/>
        </p:spPr>
        <p:txBody>
          <a:bodyPr wrap="none" lIns="0" tIns="0" rIns="0" bIns="0" rtlCol="0" anchor="ctr"/>
          <a:lstStyle/>
          <a:p>
            <a:pPr marL="0" indent="0" algn="ctr">
              <a:lnSpc>
                <a:spcPct val="100000"/>
              </a:lnSpc>
              <a:buNone/>
            </a:pPr>
            <a:r>
              <a:rPr lang="en-US" sz="2200" b="1" kern="0" spc="-67">
                <a:solidFill>
                  <a:srgbClr val="272525"/>
                </a:solidFill>
                <a:latin typeface="Inter Bold" pitchFamily="34" charset="0"/>
                <a:ea typeface="Inter Bold" pitchFamily="34" charset="-122"/>
                <a:cs typeface="Inter Bold" pitchFamily="34" charset="-120"/>
              </a:rPr>
              <a:t>1</a:t>
            </a:r>
            <a:endParaRPr lang="en-US" sz="2200"/>
          </a:p>
        </p:txBody>
      </p:sp>
      <p:sp>
        <p:nvSpPr>
          <p:cNvPr id="5" name="Text 2"/>
          <p:cNvSpPr/>
          <p:nvPr/>
        </p:nvSpPr>
        <p:spPr>
          <a:xfrm>
            <a:off x="875881" y="2752130"/>
            <a:ext cx="3068065"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MongoDB → Redis</a:t>
            </a:r>
            <a:endParaRPr lang="en-US" sz="1850"/>
          </a:p>
        </p:txBody>
      </p:sp>
      <p:sp>
        <p:nvSpPr>
          <p:cNvPr id="6" name="Text 3"/>
          <p:cNvSpPr/>
          <p:nvPr/>
        </p:nvSpPr>
        <p:spPr>
          <a:xfrm>
            <a:off x="875881" y="3160812"/>
            <a:ext cx="3068065" cy="1512094"/>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Nous avions prévu MongoDB pour les journaux de matching. Redis rend le service attendu pour le cache et la limitation de débit, et évite un composant de plus.</a:t>
            </a:r>
            <a:endParaRPr lang="en-US" sz="145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347359" y="1970683"/>
            <a:ext cx="3496877" cy="2916634"/>
          </a:xfrm>
          <a:prstGeom prst="rect">
            <a:avLst/>
          </a:prstGeom>
        </p:spPr>
      </p:pic>
      <p:sp>
        <p:nvSpPr>
          <p:cNvPr id="8" name="Text 4"/>
          <p:cNvSpPr/>
          <p:nvPr/>
        </p:nvSpPr>
        <p:spPr>
          <a:xfrm>
            <a:off x="5954067" y="2099171"/>
            <a:ext cx="283461" cy="354409"/>
          </a:xfrm>
          <a:prstGeom prst="rect">
            <a:avLst/>
          </a:prstGeom>
          <a:noFill/>
          <a:ln/>
        </p:spPr>
        <p:txBody>
          <a:bodyPr wrap="none" lIns="0" tIns="0" rIns="0" bIns="0" rtlCol="0" anchor="ctr"/>
          <a:lstStyle/>
          <a:p>
            <a:pPr marL="0" indent="0" algn="ctr">
              <a:lnSpc>
                <a:spcPct val="100000"/>
              </a:lnSpc>
              <a:buNone/>
            </a:pPr>
            <a:r>
              <a:rPr lang="en-US" sz="2200" b="1" kern="0" spc="-67">
                <a:solidFill>
                  <a:srgbClr val="272525"/>
                </a:solidFill>
                <a:latin typeface="Inter Bold" pitchFamily="34" charset="0"/>
                <a:ea typeface="Inter Bold" pitchFamily="34" charset="-122"/>
                <a:cs typeface="Inter Bold" pitchFamily="34" charset="-120"/>
              </a:rPr>
              <a:t>2</a:t>
            </a:r>
            <a:endParaRPr lang="en-US" sz="2200"/>
          </a:p>
        </p:txBody>
      </p:sp>
      <p:sp>
        <p:nvSpPr>
          <p:cNvPr id="9" name="Text 5"/>
          <p:cNvSpPr/>
          <p:nvPr/>
        </p:nvSpPr>
        <p:spPr>
          <a:xfrm>
            <a:off x="4561766" y="2752130"/>
            <a:ext cx="3068065"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Discord → Slack</a:t>
            </a:r>
            <a:endParaRPr lang="en-US" sz="1850"/>
          </a:p>
        </p:txBody>
      </p:sp>
      <p:sp>
        <p:nvSpPr>
          <p:cNvPr id="10" name="Text 6"/>
          <p:cNvSpPr/>
          <p:nvPr/>
        </p:nvSpPr>
        <p:spPr>
          <a:xfrm>
            <a:off x="4561766" y="3160812"/>
            <a:ext cx="3068065" cy="1209675"/>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Nous avions prévu Discord pour les notifications. Slack s'est imposé, avec la même mécanique de webhooks signés.</a:t>
            </a:r>
            <a:endParaRPr lang="en-US" sz="145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033244" y="1970683"/>
            <a:ext cx="3496877" cy="2916634"/>
          </a:xfrm>
          <a:prstGeom prst="rect">
            <a:avLst/>
          </a:prstGeom>
        </p:spPr>
      </p:pic>
      <p:sp>
        <p:nvSpPr>
          <p:cNvPr id="12" name="Text 7"/>
          <p:cNvSpPr/>
          <p:nvPr/>
        </p:nvSpPr>
        <p:spPr>
          <a:xfrm>
            <a:off x="9639952" y="2099171"/>
            <a:ext cx="283461" cy="354409"/>
          </a:xfrm>
          <a:prstGeom prst="rect">
            <a:avLst/>
          </a:prstGeom>
          <a:noFill/>
          <a:ln/>
        </p:spPr>
        <p:txBody>
          <a:bodyPr wrap="none" lIns="0" tIns="0" rIns="0" bIns="0" rtlCol="0" anchor="ctr"/>
          <a:lstStyle/>
          <a:p>
            <a:pPr marL="0" indent="0" algn="ctr">
              <a:lnSpc>
                <a:spcPct val="100000"/>
              </a:lnSpc>
              <a:buNone/>
            </a:pPr>
            <a:r>
              <a:rPr lang="en-US" sz="2200" b="1" kern="0" spc="-67">
                <a:solidFill>
                  <a:srgbClr val="272525"/>
                </a:solidFill>
                <a:latin typeface="Inter Bold" pitchFamily="34" charset="0"/>
                <a:ea typeface="Inter Bold" pitchFamily="34" charset="-122"/>
                <a:cs typeface="Inter Bold" pitchFamily="34" charset="-120"/>
              </a:rPr>
              <a:t>3</a:t>
            </a:r>
            <a:endParaRPr lang="en-US" sz="2200"/>
          </a:p>
        </p:txBody>
      </p:sp>
      <p:sp>
        <p:nvSpPr>
          <p:cNvPr id="13" name="Text 8"/>
          <p:cNvSpPr/>
          <p:nvPr/>
        </p:nvSpPr>
        <p:spPr>
          <a:xfrm>
            <a:off x="8247650" y="2752130"/>
            <a:ext cx="3068065"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Playwright → Supertest</a:t>
            </a:r>
            <a:endParaRPr lang="en-US" sz="1850"/>
          </a:p>
        </p:txBody>
      </p:sp>
      <p:sp>
        <p:nvSpPr>
          <p:cNvPr id="14" name="Text 9"/>
          <p:cNvSpPr/>
          <p:nvPr/>
        </p:nvSpPr>
        <p:spPr>
          <a:xfrm>
            <a:off x="8247650" y="3160812"/>
            <a:ext cx="3068065" cy="1512094"/>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Nous avions prévu Playwright pour les tests fonctionnels. Nous les avons écrits avec Supertest, au niveau de l'API, et documenté à la main ce qui relève de l'affichage.</a:t>
            </a:r>
            <a:endParaRPr lang="en-US" sz="1450"/>
          </a:p>
        </p:txBody>
      </p:sp>
      <p:sp>
        <p:nvSpPr>
          <p:cNvPr id="15" name="Shape 10"/>
          <p:cNvSpPr/>
          <p:nvPr/>
        </p:nvSpPr>
        <p:spPr>
          <a:xfrm>
            <a:off x="661475" y="5099943"/>
            <a:ext cx="10868745" cy="755948"/>
          </a:xfrm>
          <a:prstGeom prst="roundRect">
            <a:avLst>
              <a:gd name="adj" fmla="val 10502"/>
            </a:avLst>
          </a:prstGeom>
          <a:solidFill>
            <a:srgbClr val="DADBF1"/>
          </a:solidFill>
          <a:ln/>
        </p:spPr>
        <p:txBody>
          <a:bodyPr/>
          <a:lstStyle/>
          <a:p>
            <a:endParaRPr lang="fr-FR"/>
          </a:p>
        </p:txBody>
      </p:sp>
      <p:pic>
        <p:nvPicPr>
          <p:cNvPr id="16" name="Image 3" descr="preencoded.png"/>
          <p:cNvPicPr>
            <a:picLocks noChangeAspect="1"/>
          </p:cNvPicPr>
          <p:nvPr/>
        </p:nvPicPr>
        <p:blipFill>
          <a:blip r:embed="rId4"/>
          <a:stretch>
            <a:fillRect/>
          </a:stretch>
        </p:blipFill>
        <p:spPr>
          <a:xfrm>
            <a:off x="850482" y="5367635"/>
            <a:ext cx="236234" cy="189012"/>
          </a:xfrm>
          <a:prstGeom prst="rect">
            <a:avLst/>
          </a:prstGeom>
        </p:spPr>
      </p:pic>
      <p:sp>
        <p:nvSpPr>
          <p:cNvPr id="17" name="Text 11"/>
          <p:cNvSpPr/>
          <p:nvPr/>
        </p:nvSpPr>
        <p:spPr>
          <a:xfrm>
            <a:off x="1275723" y="5336183"/>
            <a:ext cx="10675075" cy="302419"/>
          </a:xfrm>
          <a:prstGeom prst="rect">
            <a:avLst/>
          </a:prstGeom>
          <a:noFill/>
          <a:ln/>
        </p:spPr>
        <p:txBody>
          <a:bodyPr wrap="none" lIns="0" tIns="0" rIns="0" bIns="0" rtlCol="0" anchor="t"/>
          <a:lstStyle/>
          <a:p>
            <a:pPr marL="0" indent="0" algn="l">
              <a:lnSpc>
                <a:spcPct val="133000"/>
              </a:lnSpc>
              <a:buNone/>
            </a:pPr>
            <a:r>
              <a:rPr lang="en-US" sz="1450" kern="0" spc="-30">
                <a:solidFill>
                  <a:srgbClr val="000000"/>
                </a:solidFill>
                <a:latin typeface="Inter" pitchFamily="34" charset="0"/>
                <a:ea typeface="Inter" pitchFamily="34" charset="-122"/>
                <a:cs typeface="Inter" pitchFamily="34" charset="-120"/>
              </a:rPr>
              <a:t>Trois écarts, trois raisons, aucune exigence du sujet abandonnée.</a:t>
            </a:r>
            <a:endParaRPr lang="en-US" sz="14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19809" y="0"/>
            <a:ext cx="4571886" cy="6858000"/>
          </a:xfrm>
          <a:prstGeom prst="rect">
            <a:avLst/>
          </a:prstGeom>
        </p:spPr>
      </p:pic>
      <p:sp>
        <p:nvSpPr>
          <p:cNvPr id="3" name="Text 0"/>
          <p:cNvSpPr/>
          <p:nvPr/>
        </p:nvSpPr>
        <p:spPr>
          <a:xfrm>
            <a:off x="661475" y="904577"/>
            <a:ext cx="6296860"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Ce que nous ferions ensuite</a:t>
            </a:r>
            <a:endParaRPr lang="en-US" sz="3700"/>
          </a:p>
        </p:txBody>
      </p:sp>
      <p:pic>
        <p:nvPicPr>
          <p:cNvPr id="4" name="Image 1" descr="preencoded.png"/>
          <p:cNvPicPr>
            <a:picLocks noChangeAspect="1"/>
          </p:cNvPicPr>
          <p:nvPr/>
        </p:nvPicPr>
        <p:blipFill>
          <a:blip r:embed="rId4"/>
          <a:stretch>
            <a:fillRect/>
          </a:stretch>
        </p:blipFill>
        <p:spPr>
          <a:xfrm>
            <a:off x="661475" y="1778695"/>
            <a:ext cx="945035" cy="1391543"/>
          </a:xfrm>
          <a:prstGeom prst="rect">
            <a:avLst/>
          </a:prstGeom>
        </p:spPr>
      </p:pic>
      <p:sp>
        <p:nvSpPr>
          <p:cNvPr id="5" name="Text 1"/>
          <p:cNvSpPr/>
          <p:nvPr/>
        </p:nvSpPr>
        <p:spPr>
          <a:xfrm>
            <a:off x="1795517" y="1967706"/>
            <a:ext cx="5162818"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Élargir le vivier</a:t>
            </a:r>
            <a:endParaRPr lang="en-US" sz="1850"/>
          </a:p>
        </p:txBody>
      </p:sp>
      <p:sp>
        <p:nvSpPr>
          <p:cNvPr id="6" name="Text 2"/>
          <p:cNvSpPr/>
          <p:nvPr/>
        </p:nvSpPr>
        <p:spPr>
          <a:xfrm>
            <a:off x="1795517" y="2376388"/>
            <a:ext cx="5162818"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Étendre à d'autres métiers du soin, en commençant par les infirmiers.</a:t>
            </a:r>
            <a:endParaRPr lang="en-US" sz="1450"/>
          </a:p>
        </p:txBody>
      </p:sp>
      <p:pic>
        <p:nvPicPr>
          <p:cNvPr id="7" name="Image 2" descr="preencoded.png"/>
          <p:cNvPicPr>
            <a:picLocks noChangeAspect="1"/>
          </p:cNvPicPr>
          <p:nvPr/>
        </p:nvPicPr>
        <p:blipFill>
          <a:blip r:embed="rId5"/>
          <a:stretch>
            <a:fillRect/>
          </a:stretch>
        </p:blipFill>
        <p:spPr>
          <a:xfrm>
            <a:off x="661475" y="3170238"/>
            <a:ext cx="945035" cy="1391543"/>
          </a:xfrm>
          <a:prstGeom prst="rect">
            <a:avLst/>
          </a:prstGeom>
        </p:spPr>
      </p:pic>
      <p:sp>
        <p:nvSpPr>
          <p:cNvPr id="8" name="Text 3"/>
          <p:cNvSpPr/>
          <p:nvPr/>
        </p:nvSpPr>
        <p:spPr>
          <a:xfrm>
            <a:off x="1795517" y="3359249"/>
            <a:ext cx="5162818"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Automatiser les contrats</a:t>
            </a:r>
            <a:endParaRPr lang="en-US" sz="1850"/>
          </a:p>
        </p:txBody>
      </p:sp>
      <p:sp>
        <p:nvSpPr>
          <p:cNvPr id="9" name="Text 4"/>
          <p:cNvSpPr/>
          <p:nvPr/>
        </p:nvSpPr>
        <p:spPr>
          <a:xfrm>
            <a:off x="1795517" y="3767931"/>
            <a:ext cx="5162818"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Automatiser la génération du contrat de mission et la signature électronique.</a:t>
            </a:r>
            <a:endParaRPr lang="en-US" sz="1450"/>
          </a:p>
        </p:txBody>
      </p:sp>
      <p:pic>
        <p:nvPicPr>
          <p:cNvPr id="10" name="Image 3" descr="preencoded.png"/>
          <p:cNvPicPr>
            <a:picLocks noChangeAspect="1"/>
          </p:cNvPicPr>
          <p:nvPr/>
        </p:nvPicPr>
        <p:blipFill>
          <a:blip r:embed="rId6"/>
          <a:stretch>
            <a:fillRect/>
          </a:stretch>
        </p:blipFill>
        <p:spPr>
          <a:xfrm>
            <a:off x="661475" y="4561780"/>
            <a:ext cx="945035" cy="1391543"/>
          </a:xfrm>
          <a:prstGeom prst="rect">
            <a:avLst/>
          </a:prstGeom>
        </p:spPr>
      </p:pic>
      <p:sp>
        <p:nvSpPr>
          <p:cNvPr id="11" name="Text 5"/>
          <p:cNvSpPr/>
          <p:nvPr/>
        </p:nvSpPr>
        <p:spPr>
          <a:xfrm>
            <a:off x="1795517" y="4750792"/>
            <a:ext cx="5162818" cy="295275"/>
          </a:xfrm>
          <a:prstGeom prst="rect">
            <a:avLst/>
          </a:prstGeom>
          <a:noFill/>
          <a:ln/>
        </p:spPr>
        <p:txBody>
          <a:bodyPr wrap="none" lIns="0" tIns="0" rIns="0" bIns="0" rtlCol="0" anchor="t"/>
          <a:lstStyle/>
          <a:p>
            <a:pPr marL="0" indent="0" algn="l">
              <a:lnSpc>
                <a:spcPct val="104000"/>
              </a:lnSpc>
              <a:buNone/>
            </a:pPr>
            <a:r>
              <a:rPr lang="en-US" sz="1850" b="1" kern="0" spc="-56">
                <a:solidFill>
                  <a:srgbClr val="272525"/>
                </a:solidFill>
                <a:latin typeface="Inter Bold" pitchFamily="34" charset="0"/>
                <a:ea typeface="Inter Bold" pitchFamily="34" charset="-122"/>
                <a:cs typeface="Inter Bold" pitchFamily="34" charset="-120"/>
              </a:rPr>
              <a:t>Ouvrir la plateforme</a:t>
            </a:r>
            <a:endParaRPr lang="en-US" sz="1850"/>
          </a:p>
        </p:txBody>
      </p:sp>
      <p:sp>
        <p:nvSpPr>
          <p:cNvPr id="12" name="Text 6"/>
          <p:cNvSpPr/>
          <p:nvPr/>
        </p:nvSpPr>
        <p:spPr>
          <a:xfrm>
            <a:off x="1795517" y="5159474"/>
            <a:ext cx="5162818"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Plusieurs départements, puis les hôpitaux publics, dont l'achat passe par la commande publique.</a:t>
            </a:r>
            <a:endParaRPr lang="en-US" sz="14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583160"/>
            <a:ext cx="6296860"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Démonstration</a:t>
            </a:r>
            <a:endParaRPr lang="en-US" sz="3700"/>
          </a:p>
        </p:txBody>
      </p:sp>
      <p:sp>
        <p:nvSpPr>
          <p:cNvPr id="4" name="Text 1"/>
          <p:cNvSpPr/>
          <p:nvPr/>
        </p:nvSpPr>
        <p:spPr>
          <a:xfrm>
            <a:off x="5233360" y="3457277"/>
            <a:ext cx="6296860" cy="817463"/>
          </a:xfrm>
          <a:prstGeom prst="rect">
            <a:avLst/>
          </a:prstGeom>
          <a:noFill/>
          <a:ln/>
        </p:spPr>
        <p:txBody>
          <a:bodyPr wrap="square" lIns="0" tIns="0" rIns="0" bIns="0" rtlCol="0" anchor="t"/>
          <a:lstStyle/>
          <a:p>
            <a:pPr marL="0" indent="0" algn="l">
              <a:lnSpc>
                <a:spcPct val="133000"/>
              </a:lnSpc>
              <a:spcAft>
                <a:spcPts val="1650"/>
              </a:spcAft>
              <a:buNone/>
            </a:pPr>
            <a:r>
              <a:rPr lang="en-US" sz="1450" kern="0" spc="-30">
                <a:solidFill>
                  <a:srgbClr val="272525"/>
                </a:solidFill>
                <a:latin typeface="Inter" pitchFamily="34" charset="0"/>
                <a:ea typeface="Inter" pitchFamily="34" charset="-122"/>
                <a:cs typeface="Inter" pitchFamily="34" charset="-120"/>
              </a:rPr>
              <a:t>De l'inscription d'un établissement à la validation d'une mission.</a:t>
            </a:r>
            <a:endParaRPr lang="en-US" sz="1450"/>
          </a:p>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Avec, au passage, le contrôle Valletoux en action.</a:t>
            </a:r>
            <a:endParaRPr lang="en-US" sz="145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4571886" cy="6858000"/>
          </a:xfrm>
          <a:prstGeom prst="rect">
            <a:avLst/>
          </a:prstGeom>
        </p:spPr>
      </p:pic>
      <p:sp>
        <p:nvSpPr>
          <p:cNvPr id="3" name="Text 0"/>
          <p:cNvSpPr/>
          <p:nvPr/>
        </p:nvSpPr>
        <p:spPr>
          <a:xfrm>
            <a:off x="5233360" y="2219325"/>
            <a:ext cx="6296860" cy="590649"/>
          </a:xfrm>
          <a:prstGeom prst="rect">
            <a:avLst/>
          </a:prstGeom>
          <a:noFill/>
          <a:ln/>
        </p:spPr>
        <p:txBody>
          <a:bodyPr wrap="none" lIns="0" tIns="0" rIns="0" bIns="0" rtlCol="0" anchor="t"/>
          <a:lstStyle/>
          <a:p>
            <a:pPr marL="0" indent="0" algn="l">
              <a:lnSpc>
                <a:spcPct val="104000"/>
              </a:lnSpc>
              <a:buNone/>
            </a:pPr>
            <a:r>
              <a:rPr lang="en-US" sz="3700" b="1" kern="0" spc="-112">
                <a:solidFill>
                  <a:srgbClr val="000000"/>
                </a:solidFill>
                <a:latin typeface="Inter Bold" pitchFamily="34" charset="0"/>
                <a:ea typeface="Inter Bold" pitchFamily="34" charset="-122"/>
                <a:cs typeface="Inter Bold" pitchFamily="34" charset="-120"/>
              </a:rPr>
              <a:t>Merci</a:t>
            </a:r>
            <a:endParaRPr lang="en-US" sz="3700"/>
          </a:p>
        </p:txBody>
      </p:sp>
      <p:sp>
        <p:nvSpPr>
          <p:cNvPr id="4" name="Text 1"/>
          <p:cNvSpPr/>
          <p:nvPr/>
        </p:nvSpPr>
        <p:spPr>
          <a:xfrm>
            <a:off x="5516821" y="3306068"/>
            <a:ext cx="6013399" cy="604838"/>
          </a:xfrm>
          <a:prstGeom prst="rect">
            <a:avLst/>
          </a:prstGeom>
          <a:noFill/>
          <a:ln/>
        </p:spPr>
        <p:txBody>
          <a:bodyPr wrap="square" lIns="0" tIns="0" rIns="0" bIns="0" rtlCol="0" anchor="t">
            <a:normAutofit/>
          </a:bodyPr>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Relève. Le remplacement d'un aide-soignant, sans le téléphone de six heures trente.</a:t>
            </a:r>
            <a:endParaRPr lang="en-US" sz="1450"/>
          </a:p>
        </p:txBody>
      </p:sp>
      <p:sp>
        <p:nvSpPr>
          <p:cNvPr id="5" name="Shape 2"/>
          <p:cNvSpPr/>
          <p:nvPr/>
        </p:nvSpPr>
        <p:spPr>
          <a:xfrm>
            <a:off x="5233360" y="3093442"/>
            <a:ext cx="25399" cy="1030089"/>
          </a:xfrm>
          <a:prstGeom prst="roundRect">
            <a:avLst>
              <a:gd name="adj" fmla="val 50001"/>
            </a:avLst>
          </a:prstGeom>
          <a:solidFill>
            <a:srgbClr val="4950BC"/>
          </a:solidFill>
          <a:ln/>
        </p:spPr>
        <p:txBody>
          <a:bodyPr/>
          <a:lstStyle/>
          <a:p>
            <a:endParaRPr lang="fr-FR"/>
          </a:p>
        </p:txBody>
      </p:sp>
      <p:sp>
        <p:nvSpPr>
          <p:cNvPr id="6" name="Text 3"/>
          <p:cNvSpPr/>
          <p:nvPr/>
        </p:nvSpPr>
        <p:spPr>
          <a:xfrm>
            <a:off x="5233360" y="4336157"/>
            <a:ext cx="6906444" cy="302419"/>
          </a:xfrm>
          <a:prstGeom prst="rect">
            <a:avLst/>
          </a:prstGeom>
          <a:noFill/>
          <a:ln/>
        </p:spPr>
        <p:txBody>
          <a:bodyPr wrap="none" lIns="0" tIns="0" rIns="0" bIns="0" rtlCol="0" anchor="t"/>
          <a:lstStyle/>
          <a:p>
            <a:pPr marL="0" indent="0" algn="l">
              <a:lnSpc>
                <a:spcPct val="133000"/>
              </a:lnSpc>
              <a:buNone/>
            </a:pPr>
            <a:r>
              <a:rPr lang="en-US" sz="1450" kern="0" spc="-30">
                <a:solidFill>
                  <a:srgbClr val="272525"/>
                </a:solidFill>
                <a:latin typeface="Inter" pitchFamily="34" charset="0"/>
                <a:ea typeface="Inter" pitchFamily="34" charset="-122"/>
                <a:cs typeface="Inter" pitchFamily="34" charset="-120"/>
              </a:rPr>
              <a:t>Vos questions.</a:t>
            </a:r>
            <a:endParaRPr lang="en-US" sz="14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B16486-0B87-514F-B4C3-3ADF55F25B8E}">
  <we:reference id="WA200010001" version="1.0.0.1" store="Omex" storeType="OMEX"/>
  <we:alternateReferences>
    <we:reference id="WA200010001" version="1.0.0.1" store="WA200010001" storeType="OMEX"/>
  </we:alternateReferences>
  <we:properties>
    <we:property name="claude.fileId" value="&quot;4557713a-fabd-43ff-9db0-aed53b2506ab&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22</Slides>
  <Notes>22</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revision>1</cp:revision>
  <dcterms:created xsi:type="dcterms:W3CDTF">2026-09-23T08:08:11Z</dcterms:created>
  <dcterms:modified xsi:type="dcterms:W3CDTF">2026-09-25T11:37:27Z</dcterms:modified>
</cp:coreProperties>
</file>